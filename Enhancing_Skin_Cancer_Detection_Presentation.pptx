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7" r:id="rId15"/>
    <p:sldId id="269" r:id="rId16"/>
    <p:sldId id="278" r:id="rId17"/>
    <p:sldId id="270" r:id="rId18"/>
    <p:sldId id="279" r:id="rId19"/>
    <p:sldId id="271" r:id="rId20"/>
    <p:sldId id="272"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F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761"/>
                </a:solidFill>
                <a:latin typeface="Arial"/>
              </a:defRPr>
            </a:pPr>
            <a:r>
              <a:rPr lang="en-US" sz="1300" b="0" i="0" u="none" strike="noStrike">
                <a:solidFill>
                  <a:srgbClr val="1E2761"/>
                </a:solidFill>
                <a:latin typeface="Arial"/>
              </a:rPr>
              <a:t>Overall Class Balance (n = 3,297)</a:t>
            </a:r>
          </a:p>
        </c:rich>
      </c:tx>
      <c:overlay val="0"/>
    </c:title>
    <c:autoTitleDeleted val="0"/>
    <c:plotArea>
      <c:layout/>
      <c:doughnutChart>
        <c:varyColors val="1"/>
        <c:ser>
          <c:idx val="0"/>
          <c:order val="0"/>
          <c:tx>
            <c:strRef>
              <c:f>Sheet1!$B$1</c:f>
              <c:strCache>
                <c:ptCount val="1"/>
                <c:pt idx="0">
                  <c:v>Classes</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extLst>
              <c:ext xmlns:c16="http://schemas.microsoft.com/office/drawing/2014/chart" uri="{C3380CC4-5D6E-409C-BE32-E72D297353CC}">
                <c16:uniqueId val="{00000001-5FBF-473E-9EF3-9D10A2A878C5}"/>
              </c:ext>
            </c:extLst>
          </c:dPt>
          <c:dPt>
            <c:idx val="1"/>
            <c:bubble3D val="0"/>
            <c:spPr>
              <a:solidFill>
                <a:srgbClr val="C0392B"/>
              </a:solidFill>
              <a:effectLst/>
            </c:spPr>
            <c:extLst>
              <c:ext xmlns:c16="http://schemas.microsoft.com/office/drawing/2014/chart" uri="{C3380CC4-5D6E-409C-BE32-E72D297353CC}">
                <c16:uniqueId val="{00000003-5FBF-473E-9EF3-9D10A2A878C5}"/>
              </c:ext>
            </c:extLst>
          </c:dPt>
          <c:dLbls>
            <c:dLbl>
              <c:idx val="0"/>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BF-473E-9EF3-9D10A2A878C5}"/>
                </c:ext>
              </c:extLst>
            </c:dLbl>
            <c:dLbl>
              <c:idx val="1"/>
              <c:numFmt formatCode="General"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BF-473E-9EF3-9D10A2A878C5}"/>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Benign</c:v>
                </c:pt>
                <c:pt idx="1">
                  <c:v>Malignant</c:v>
                </c:pt>
              </c:strCache>
            </c:strRef>
          </c:cat>
          <c:val>
            <c:numRef>
              <c:f>Sheet1!$B$2:$B$3</c:f>
              <c:numCache>
                <c:formatCode>General</c:formatCode>
                <c:ptCount val="2"/>
                <c:pt idx="0">
                  <c:v>1800</c:v>
                </c:pt>
                <c:pt idx="1">
                  <c:v>1497</c:v>
                </c:pt>
              </c:numCache>
            </c:numRef>
          </c:val>
          <c:extLst>
            <c:ext xmlns:c16="http://schemas.microsoft.com/office/drawing/2014/chart" uri="{C3380CC4-5D6E-409C-BE32-E72D297353CC}">
              <c16:uniqueId val="{00000004-5FBF-473E-9EF3-9D10A2A878C5}"/>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222436"/>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761"/>
                </a:solidFill>
                <a:latin typeface="Arial"/>
              </a:defRPr>
            </a:pPr>
            <a:r>
              <a:rPr lang="en-US" sz="1200" b="0" i="0" u="none" strike="noStrike">
                <a:solidFill>
                  <a:srgbClr val="1E2761"/>
                </a:solidFill>
                <a:latin typeface="Arial"/>
              </a:rPr>
              <a:t>Sensitivity vs. Specificity Trade-off</a:t>
            </a:r>
          </a:p>
        </c:rich>
      </c:tx>
      <c:overlay val="0"/>
    </c:title>
    <c:autoTitleDeleted val="0"/>
    <c:plotArea>
      <c:layout/>
      <c:barChart>
        <c:barDir val="col"/>
        <c:grouping val="clustered"/>
        <c:varyColors val="0"/>
        <c:ser>
          <c:idx val="0"/>
          <c:order val="0"/>
          <c:tx>
            <c:strRef>
              <c:f>Sheet1!$B$1</c:f>
              <c:strCache>
                <c:ptCount val="1"/>
                <c:pt idx="0">
                  <c:v>Sensitivity</c:v>
                </c:pt>
              </c:strCache>
            </c:strRef>
          </c:tx>
          <c:spPr>
            <a:solidFill>
              <a:srgbClr val="028090"/>
            </a:solidFill>
            <a:effectLst/>
          </c:spPr>
          <c:invertIfNegative val="0"/>
          <c:dLbls>
            <c:numFmt formatCode="0.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Fine Tuned ResNet50
(proposed)</c:v>
                </c:pt>
                <c:pt idx="1">
                  <c:v>Baseline ResNet50</c:v>
                </c:pt>
                <c:pt idx="2">
                  <c:v>+ Label
Smoothing</c:v>
                </c:pt>
                <c:pt idx="3">
                  <c:v>+ LS + TTA</c:v>
                </c:pt>
              </c:strCache>
            </c:strRef>
          </c:cat>
          <c:val>
            <c:numRef>
              <c:f>Sheet1!$B$2:$B$5</c:f>
              <c:numCache>
                <c:formatCode>General</c:formatCode>
                <c:ptCount val="4"/>
                <c:pt idx="0">
                  <c:v>90.83</c:v>
                </c:pt>
                <c:pt idx="1">
                  <c:v>87.92</c:v>
                </c:pt>
                <c:pt idx="2">
                  <c:v>87.5</c:v>
                </c:pt>
                <c:pt idx="3">
                  <c:v>80</c:v>
                </c:pt>
              </c:numCache>
            </c:numRef>
          </c:val>
          <c:extLst>
            <c:ext xmlns:c16="http://schemas.microsoft.com/office/drawing/2014/chart" uri="{C3380CC4-5D6E-409C-BE32-E72D297353CC}">
              <c16:uniqueId val="{00000000-7ED2-429D-81D6-F76D5A77EDF5}"/>
            </c:ext>
          </c:extLst>
        </c:ser>
        <c:ser>
          <c:idx val="1"/>
          <c:order val="1"/>
          <c:tx>
            <c:strRef>
              <c:f>Sheet1!$C$1</c:f>
              <c:strCache>
                <c:ptCount val="1"/>
                <c:pt idx="0">
                  <c:v>Specificity</c:v>
                </c:pt>
              </c:strCache>
            </c:strRef>
          </c:tx>
          <c:spPr>
            <a:solidFill>
              <a:srgbClr val="C0392B"/>
            </a:solidFill>
            <a:effectLst/>
          </c:spPr>
          <c:invertIfNegative val="0"/>
          <c:dLbls>
            <c:numFmt formatCode="0.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Fine Tuned ResNet50
(proposed)</c:v>
                </c:pt>
                <c:pt idx="1">
                  <c:v>Baseline ResNet50</c:v>
                </c:pt>
                <c:pt idx="2">
                  <c:v>+ Label
Smoothing</c:v>
                </c:pt>
                <c:pt idx="3">
                  <c:v>+ LS + TTA</c:v>
                </c:pt>
              </c:strCache>
            </c:strRef>
          </c:cat>
          <c:val>
            <c:numRef>
              <c:f>Sheet1!$C$2:$C$5</c:f>
              <c:numCache>
                <c:formatCode>General</c:formatCode>
                <c:ptCount val="4"/>
                <c:pt idx="0">
                  <c:v>92.71</c:v>
                </c:pt>
                <c:pt idx="1">
                  <c:v>89.24</c:v>
                </c:pt>
                <c:pt idx="2">
                  <c:v>88.54</c:v>
                </c:pt>
                <c:pt idx="3">
                  <c:v>93.4</c:v>
                </c:pt>
              </c:numCache>
            </c:numRef>
          </c:val>
          <c:extLst>
            <c:ext xmlns:c16="http://schemas.microsoft.com/office/drawing/2014/chart" uri="{C3380CC4-5D6E-409C-BE32-E72D297353CC}">
              <c16:uniqueId val="{00000001-7ED2-429D-81D6-F76D5A77EDF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3.7390246537907859E-2"/>
          <c:y val="4.8543689320388349E-2"/>
          <c:w val="0.95264959409954231"/>
          <c:h val="0.80003928513790146"/>
        </c:manualLayout>
      </c:layout>
      <c:barChart>
        <c:barDir val="col"/>
        <c:grouping val="clustered"/>
        <c:varyColors val="0"/>
        <c:ser>
          <c:idx val="0"/>
          <c:order val="0"/>
          <c:tx>
            <c:strRef>
              <c:f>Sheet1!$B$1</c:f>
              <c:strCache>
                <c:ptCount val="1"/>
                <c:pt idx="0">
                  <c:v>Accuracy</c:v>
                </c:pt>
              </c:strCache>
            </c:strRef>
          </c:tx>
          <c:spPr>
            <a:solidFill>
              <a:srgbClr val="1E2761"/>
            </a:solidFill>
            <a:effectLst/>
          </c:spPr>
          <c:invertIfNegative val="0"/>
          <c:cat>
            <c:strRef>
              <c:f>Sheet1!$A$2:$A$8</c:f>
              <c:strCache>
                <c:ptCount val="7"/>
                <c:pt idx="0">
                  <c:v>FT-ResNet50
(proposed)</c:v>
                </c:pt>
                <c:pt idx="1">
                  <c:v>Baseline
ResNet50</c:v>
                </c:pt>
                <c:pt idx="2">
                  <c:v>FT+LS</c:v>
                </c:pt>
                <c:pt idx="3">
                  <c:v>FT+LS
+TTA</c:v>
                </c:pt>
                <c:pt idx="4">
                  <c:v>MobileNetV2</c:v>
                </c:pt>
                <c:pt idx="5">
                  <c:v>EfficientNet
-B4</c:v>
                </c:pt>
                <c:pt idx="6">
                  <c:v>DenseNet121</c:v>
                </c:pt>
              </c:strCache>
            </c:strRef>
          </c:cat>
          <c:val>
            <c:numRef>
              <c:f>Sheet1!$B$2:$B$8</c:f>
              <c:numCache>
                <c:formatCode>General</c:formatCode>
                <c:ptCount val="7"/>
                <c:pt idx="0">
                  <c:v>90.91</c:v>
                </c:pt>
                <c:pt idx="1">
                  <c:v>88.48</c:v>
                </c:pt>
                <c:pt idx="2">
                  <c:v>88.03</c:v>
                </c:pt>
                <c:pt idx="3">
                  <c:v>86.52</c:v>
                </c:pt>
                <c:pt idx="4">
                  <c:v>84.85</c:v>
                </c:pt>
                <c:pt idx="5">
                  <c:v>81.209999999999994</c:v>
                </c:pt>
                <c:pt idx="6">
                  <c:v>81.209999999999994</c:v>
                </c:pt>
              </c:numCache>
            </c:numRef>
          </c:val>
          <c:extLst>
            <c:ext xmlns:c16="http://schemas.microsoft.com/office/drawing/2014/chart" uri="{C3380CC4-5D6E-409C-BE32-E72D297353CC}">
              <c16:uniqueId val="{00000000-333A-4C51-949B-746D99243350}"/>
            </c:ext>
          </c:extLst>
        </c:ser>
        <c:ser>
          <c:idx val="1"/>
          <c:order val="1"/>
          <c:tx>
            <c:strRef>
              <c:f>Sheet1!$C$1</c:f>
              <c:strCache>
                <c:ptCount val="1"/>
                <c:pt idx="0">
                  <c:v>Sensitivity</c:v>
                </c:pt>
              </c:strCache>
            </c:strRef>
          </c:tx>
          <c:spPr>
            <a:solidFill>
              <a:srgbClr val="028090"/>
            </a:solidFill>
            <a:effectLst/>
          </c:spPr>
          <c:invertIfNegative val="0"/>
          <c:cat>
            <c:strRef>
              <c:f>Sheet1!$A$2:$A$8</c:f>
              <c:strCache>
                <c:ptCount val="7"/>
                <c:pt idx="0">
                  <c:v>FT-ResNet50
(proposed)</c:v>
                </c:pt>
                <c:pt idx="1">
                  <c:v>Baseline
ResNet50</c:v>
                </c:pt>
                <c:pt idx="2">
                  <c:v>FT+LS</c:v>
                </c:pt>
                <c:pt idx="3">
                  <c:v>FT+LS
+TTA</c:v>
                </c:pt>
                <c:pt idx="4">
                  <c:v>MobileNetV2</c:v>
                </c:pt>
                <c:pt idx="5">
                  <c:v>EfficientNet
-B4</c:v>
                </c:pt>
                <c:pt idx="6">
                  <c:v>DenseNet121</c:v>
                </c:pt>
              </c:strCache>
            </c:strRef>
          </c:cat>
          <c:val>
            <c:numRef>
              <c:f>Sheet1!$C$2:$C$8</c:f>
              <c:numCache>
                <c:formatCode>General</c:formatCode>
                <c:ptCount val="7"/>
                <c:pt idx="0">
                  <c:v>92.33</c:v>
                </c:pt>
                <c:pt idx="1">
                  <c:v>91</c:v>
                </c:pt>
                <c:pt idx="2">
                  <c:v>88.33</c:v>
                </c:pt>
                <c:pt idx="3">
                  <c:v>78</c:v>
                </c:pt>
                <c:pt idx="4">
                  <c:v>82.33</c:v>
                </c:pt>
                <c:pt idx="5">
                  <c:v>91</c:v>
                </c:pt>
                <c:pt idx="6">
                  <c:v>85.33</c:v>
                </c:pt>
              </c:numCache>
            </c:numRef>
          </c:val>
          <c:extLst>
            <c:ext xmlns:c16="http://schemas.microsoft.com/office/drawing/2014/chart" uri="{C3380CC4-5D6E-409C-BE32-E72D297353CC}">
              <c16:uniqueId val="{00000001-333A-4C51-949B-746D99243350}"/>
            </c:ext>
          </c:extLst>
        </c:ser>
        <c:ser>
          <c:idx val="2"/>
          <c:order val="2"/>
          <c:tx>
            <c:strRef>
              <c:f>Sheet1!$D$1</c:f>
              <c:strCache>
                <c:ptCount val="1"/>
                <c:pt idx="0">
                  <c:v>Specificity</c:v>
                </c:pt>
              </c:strCache>
            </c:strRef>
          </c:tx>
          <c:spPr>
            <a:solidFill>
              <a:srgbClr val="C68B00"/>
            </a:solidFill>
            <a:effectLst/>
          </c:spPr>
          <c:invertIfNegative val="0"/>
          <c:cat>
            <c:strRef>
              <c:f>Sheet1!$A$2:$A$8</c:f>
              <c:strCache>
                <c:ptCount val="7"/>
                <c:pt idx="0">
                  <c:v>FT-ResNet50
(proposed)</c:v>
                </c:pt>
                <c:pt idx="1">
                  <c:v>Baseline
ResNet50</c:v>
                </c:pt>
                <c:pt idx="2">
                  <c:v>FT+LS</c:v>
                </c:pt>
                <c:pt idx="3">
                  <c:v>FT+LS
+TTA</c:v>
                </c:pt>
                <c:pt idx="4">
                  <c:v>MobileNetV2</c:v>
                </c:pt>
                <c:pt idx="5">
                  <c:v>EfficientNet
-B4</c:v>
                </c:pt>
                <c:pt idx="6">
                  <c:v>DenseNet121</c:v>
                </c:pt>
              </c:strCache>
            </c:strRef>
          </c:cat>
          <c:val>
            <c:numRef>
              <c:f>Sheet1!$D$2:$D$8</c:f>
              <c:numCache>
                <c:formatCode>General</c:formatCode>
                <c:ptCount val="7"/>
                <c:pt idx="0">
                  <c:v>89.72</c:v>
                </c:pt>
                <c:pt idx="1">
                  <c:v>86.39</c:v>
                </c:pt>
                <c:pt idx="2">
                  <c:v>87.78</c:v>
                </c:pt>
                <c:pt idx="3">
                  <c:v>93.61</c:v>
                </c:pt>
                <c:pt idx="4">
                  <c:v>86.94</c:v>
                </c:pt>
                <c:pt idx="5">
                  <c:v>73.06</c:v>
                </c:pt>
                <c:pt idx="6">
                  <c:v>77.78</c:v>
                </c:pt>
              </c:numCache>
            </c:numRef>
          </c:val>
          <c:extLst>
            <c:ext xmlns:c16="http://schemas.microsoft.com/office/drawing/2014/chart" uri="{C3380CC4-5D6E-409C-BE32-E72D297353CC}">
              <c16:uniqueId val="{00000002-333A-4C51-949B-746D9924335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22436"/>
                </a:solidFill>
                <a:latin typeface="Arial"/>
              </a:defRPr>
            </a:pPr>
            <a:endParaRPr lang="en-US"/>
          </a:p>
        </c:txPr>
        <c:crossAx val="2094734552"/>
        <c:crosses val="autoZero"/>
        <c:auto val="1"/>
        <c:lblAlgn val="ctr"/>
        <c:lblOffset val="100"/>
        <c:noMultiLvlLbl val="1"/>
      </c:catAx>
      <c:valAx>
        <c:axId val="2094734552"/>
        <c:scaling>
          <c:orientation val="minMax"/>
          <c:max val="100"/>
          <c:min val="60"/>
        </c:scaling>
        <c:delete val="0"/>
        <c:axPos val="l"/>
        <c:majorGridlines>
          <c:spPr>
            <a:ln w="9525" cap="flat">
              <a:solidFill>
                <a:srgbClr val="E4E4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E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761"/>
                </a:solidFill>
                <a:latin typeface="Arial"/>
              </a:defRPr>
            </a:pPr>
            <a:r>
              <a:rPr lang="en-US" sz="1200" b="0" i="0" u="none" strike="noStrike">
                <a:solidFill>
                  <a:srgbClr val="1E2761"/>
                </a:solidFill>
                <a:latin typeface="Arial"/>
              </a:rPr>
              <a:t>Per-Metric Improvement (percentage points)</a:t>
            </a:r>
          </a:p>
        </c:rich>
      </c:tx>
      <c:overlay val="0"/>
    </c:title>
    <c:autoTitleDeleted val="0"/>
    <c:plotArea>
      <c:layout>
        <c:manualLayout>
          <c:layoutTarget val="inner"/>
          <c:xMode val="edge"/>
          <c:yMode val="edge"/>
          <c:x val="8.9240142651660068E-2"/>
          <c:y val="9.7815507436570429E-2"/>
          <c:w val="0.8723771816658511"/>
          <c:h val="0.82990439997083698"/>
        </c:manualLayout>
      </c:layout>
      <c:barChart>
        <c:barDir val="bar"/>
        <c:grouping val="clustered"/>
        <c:varyColors val="0"/>
        <c:ser>
          <c:idx val="0"/>
          <c:order val="0"/>
          <c:tx>
            <c:strRef>
              <c:f>Sheet1!$B$1</c:f>
              <c:strCache>
                <c:ptCount val="1"/>
                <c:pt idx="0">
                  <c:v>Gain (pp)</c:v>
                </c:pt>
              </c:strCache>
            </c:strRef>
          </c:tx>
          <c:spPr>
            <a:solidFill>
              <a:srgbClr val="028090"/>
            </a:solidFill>
            <a:effectLst/>
          </c:spPr>
          <c:invertIfNegative val="0"/>
          <c:dLbls>
            <c:numFmt formatCode="0.00" sourceLinked="0"/>
            <c:spPr>
              <a:noFill/>
              <a:ln>
                <a:noFill/>
              </a:ln>
              <a:effectLst/>
            </c:spPr>
            <c:txPr>
              <a:bodyPr/>
              <a:lstStyle/>
              <a:p>
                <a:pPr>
                  <a:defRPr sz="1100" b="1"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Sensitivity</c:v>
                </c:pt>
                <c:pt idx="3">
                  <c:v>Specificity</c:v>
                </c:pt>
                <c:pt idx="4">
                  <c:v>F1-score</c:v>
                </c:pt>
              </c:strCache>
            </c:strRef>
          </c:cat>
          <c:val>
            <c:numRef>
              <c:f>Sheet1!$B$2:$B$6</c:f>
              <c:numCache>
                <c:formatCode>General</c:formatCode>
                <c:ptCount val="5"/>
                <c:pt idx="0">
                  <c:v>2.9</c:v>
                </c:pt>
                <c:pt idx="1">
                  <c:v>0.12</c:v>
                </c:pt>
                <c:pt idx="2">
                  <c:v>4.6399999999999997</c:v>
                </c:pt>
                <c:pt idx="3">
                  <c:v>1.63</c:v>
                </c:pt>
                <c:pt idx="4">
                  <c:v>2.38</c:v>
                </c:pt>
              </c:numCache>
            </c:numRef>
          </c:val>
          <c:extLst>
            <c:ext xmlns:c16="http://schemas.microsoft.com/office/drawing/2014/chart" uri="{C3380CC4-5D6E-409C-BE32-E72D297353CC}">
              <c16:uniqueId val="{00000000-A4C9-45C5-9977-F2EA47F49A2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5"/>
        </c:scaling>
        <c:delete val="0"/>
        <c:axPos val="b"/>
        <c:majorGridlines>
          <c:spPr>
            <a:ln w="9525" cap="flat">
              <a:solidFill>
                <a:srgbClr val="E4E4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728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CAA3-EBB2-9E1F-A9EB-0CB78C861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554F3-9B79-D3AF-76ED-234D845E1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CC2F7-2388-CB62-F6A7-F42C1FCD2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0CE534-EB45-F045-0688-6F4E6271DC8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96831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B9149-DCA9-C3A9-2C74-96BA10224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DBFE7-3281-0E52-2E9F-09E202AFC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0E3A4-7DEC-6FBC-F554-2619B0F7F1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5B7270-4C47-DD36-3946-950BAAC373D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43038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B9CDD-8664-1D4E-5EAE-6E364E5A6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D47C9-2DE8-929C-00FE-364AFCDEE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6AE6B-73D0-6A5E-8F09-578D54D0CB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55BA1A-E2C6-F995-492E-B1DA4A41EBF3}"/>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9852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351645" y="-2665095"/>
            <a:ext cx="5943600" cy="5943600"/>
          </a:xfrm>
          <a:prstGeom prst="ellipse">
            <a:avLst/>
          </a:prstGeom>
          <a:solidFill>
            <a:srgbClr val="EEF3FC"/>
          </a:solidFill>
          <a:ln/>
        </p:spPr>
      </p:sp>
      <p:sp>
        <p:nvSpPr>
          <p:cNvPr id="3" name="Shape 1"/>
          <p:cNvSpPr/>
          <p:nvPr/>
        </p:nvSpPr>
        <p:spPr>
          <a:xfrm>
            <a:off x="10607040" y="-1005840"/>
            <a:ext cx="3291840" cy="3291840"/>
          </a:xfrm>
          <a:prstGeom prst="ellipse">
            <a:avLst/>
          </a:prstGeom>
          <a:solidFill>
            <a:srgbClr val="CADCFC"/>
          </a:solidFill>
          <a:ln/>
        </p:spPr>
      </p:sp>
      <p:sp>
        <p:nvSpPr>
          <p:cNvPr id="4" name="Shape 2"/>
          <p:cNvSpPr/>
          <p:nvPr/>
        </p:nvSpPr>
        <p:spPr>
          <a:xfrm>
            <a:off x="-1554480" y="4919472"/>
            <a:ext cx="4572000" cy="4572000"/>
          </a:xfrm>
          <a:prstGeom prst="ellipse">
            <a:avLst/>
          </a:prstGeom>
          <a:solidFill>
            <a:srgbClr val="EEF3FC"/>
          </a:solidFill>
          <a:ln/>
        </p:spPr>
      </p:sp>
      <p:sp>
        <p:nvSpPr>
          <p:cNvPr id="6" name="Text 4"/>
          <p:cNvSpPr/>
          <p:nvPr/>
        </p:nvSpPr>
        <p:spPr>
          <a:xfrm>
            <a:off x="731520" y="1600200"/>
            <a:ext cx="10241280" cy="868680"/>
          </a:xfrm>
          <a:prstGeom prst="rect">
            <a:avLst/>
          </a:prstGeom>
          <a:noFill/>
          <a:ln/>
        </p:spPr>
        <p:txBody>
          <a:bodyPr wrap="square" rtlCol="0" anchor="ctr"/>
          <a:lstStyle/>
          <a:p>
            <a:pPr marL="0" indent="0">
              <a:buNone/>
            </a:pPr>
            <a:r>
              <a:rPr lang="en-US" sz="4200" b="1" dirty="0">
                <a:solidFill>
                  <a:srgbClr val="1E2761"/>
                </a:solidFill>
                <a:latin typeface="Times New Roman" panose="02020603050405020304" pitchFamily="18" charset="0"/>
                <a:ea typeface="Cambria" pitchFamily="34" charset="-122"/>
                <a:cs typeface="Times New Roman" panose="02020603050405020304" pitchFamily="18" charset="0"/>
              </a:rPr>
              <a:t>Enhancing Skin Cancer Detection</a:t>
            </a:r>
            <a:endParaRPr lang="en-US" sz="4200" dirty="0">
              <a:latin typeface="Times New Roman" panose="02020603050405020304" pitchFamily="18" charset="0"/>
              <a:cs typeface="Times New Roman" panose="02020603050405020304" pitchFamily="18" charset="0"/>
            </a:endParaRPr>
          </a:p>
        </p:txBody>
      </p:sp>
      <p:sp>
        <p:nvSpPr>
          <p:cNvPr id="7" name="Text 5"/>
          <p:cNvSpPr/>
          <p:nvPr/>
        </p:nvSpPr>
        <p:spPr>
          <a:xfrm>
            <a:off x="731520" y="2395728"/>
            <a:ext cx="9692640" cy="777240"/>
          </a:xfrm>
          <a:prstGeom prst="rect">
            <a:avLst/>
          </a:prstGeom>
          <a:noFill/>
          <a:ln/>
        </p:spPr>
        <p:txBody>
          <a:bodyPr wrap="square" rtlCol="0" anchor="ctr"/>
          <a:lstStyle/>
          <a:p>
            <a:pPr marL="0" indent="0">
              <a:lnSpc>
                <a:spcPts val="2800"/>
              </a:lnSpc>
              <a:buNone/>
            </a:pPr>
            <a:r>
              <a:rPr lang="en-US" sz="2200" i="1" dirty="0">
                <a:solidFill>
                  <a:srgbClr val="015F6B"/>
                </a:solidFill>
                <a:latin typeface="Times New Roman" panose="02020603050405020304" pitchFamily="18" charset="0"/>
                <a:ea typeface="Cambria" pitchFamily="34" charset="-122"/>
                <a:cs typeface="Times New Roman" panose="02020603050405020304" pitchFamily="18" charset="0"/>
              </a:rPr>
              <a:t>A Fine-Tuned ResNet50 Transfer Learning Framework with Decision Threshold Calibration</a:t>
            </a:r>
            <a:endParaRPr lang="en-US" sz="2200" dirty="0">
              <a:latin typeface="Times New Roman" panose="02020603050405020304" pitchFamily="18" charset="0"/>
              <a:cs typeface="Times New Roman" panose="02020603050405020304" pitchFamily="18" charset="0"/>
            </a:endParaRPr>
          </a:p>
        </p:txBody>
      </p:sp>
      <p:sp>
        <p:nvSpPr>
          <p:cNvPr id="8" name="Shape 6"/>
          <p:cNvSpPr/>
          <p:nvPr/>
        </p:nvSpPr>
        <p:spPr>
          <a:xfrm>
            <a:off x="777240" y="3383280"/>
            <a:ext cx="0" cy="1005840"/>
          </a:xfrm>
          <a:prstGeom prst="line">
            <a:avLst/>
          </a:prstGeom>
          <a:noFill/>
          <a:ln w="38100">
            <a:solidFill>
              <a:srgbClr val="CADCFC"/>
            </a:solidFill>
            <a:prstDash val="solid"/>
          </a:ln>
        </p:spPr>
      </p:sp>
      <p:sp>
        <p:nvSpPr>
          <p:cNvPr id="9" name="Text 7"/>
          <p:cNvSpPr/>
          <p:nvPr/>
        </p:nvSpPr>
        <p:spPr>
          <a:xfrm>
            <a:off x="960120" y="3520440"/>
            <a:ext cx="7772400" cy="365760"/>
          </a:xfrm>
          <a:prstGeom prst="rect">
            <a:avLst/>
          </a:prstGeom>
          <a:noFill/>
          <a:ln/>
        </p:spPr>
        <p:txBody>
          <a:bodyPr wrap="square" rtlCol="0" anchor="ctr"/>
          <a:lstStyle/>
          <a:p>
            <a:pPr marL="0" indent="0">
              <a:buNone/>
            </a:pPr>
            <a:r>
              <a:rPr lang="en-US" sz="1800" b="1" dirty="0">
                <a:solidFill>
                  <a:srgbClr val="222436"/>
                </a:solidFill>
                <a:latin typeface="Times New Roman" panose="02020603050405020304" pitchFamily="18" charset="0"/>
                <a:ea typeface="Calibri" pitchFamily="34" charset="-122"/>
                <a:cs typeface="Times New Roman" panose="02020603050405020304" pitchFamily="18" charset="0"/>
              </a:rPr>
              <a:t>Belal Hossain      •      Nusrat Jahan</a:t>
            </a:r>
            <a:endParaRPr lang="en-US" sz="1800" dirty="0">
              <a:latin typeface="Times New Roman" panose="02020603050405020304" pitchFamily="18" charset="0"/>
              <a:cs typeface="Times New Roman" panose="02020603050405020304" pitchFamily="18" charset="0"/>
            </a:endParaRPr>
          </a:p>
        </p:txBody>
      </p:sp>
      <p:sp>
        <p:nvSpPr>
          <p:cNvPr id="10" name="Text 8"/>
          <p:cNvSpPr/>
          <p:nvPr/>
        </p:nvSpPr>
        <p:spPr>
          <a:xfrm>
            <a:off x="777240" y="4215384"/>
            <a:ext cx="8229600" cy="320040"/>
          </a:xfrm>
          <a:prstGeom prst="rect">
            <a:avLst/>
          </a:prstGeom>
          <a:noFill/>
          <a:ln/>
        </p:spPr>
        <p:txBody>
          <a:bodyPr wrap="square" rtlCol="0" anchor="ctr"/>
          <a:lstStyle/>
          <a:p>
            <a:pPr marL="0" indent="0">
              <a:buNone/>
            </a:pPr>
            <a:r>
              <a:rPr lang="en-US" sz="1300" dirty="0">
                <a:solidFill>
                  <a:srgbClr val="6B6E85"/>
                </a:solidFill>
                <a:latin typeface="Times New Roman" panose="02020603050405020304" pitchFamily="18" charset="0"/>
                <a:ea typeface="Calibri" pitchFamily="34" charset="-122"/>
                <a:cs typeface="Times New Roman" panose="02020603050405020304" pitchFamily="18" charset="0"/>
              </a:rPr>
              <a:t>Department of Computer Science, East West University, Dhaka, Bangladesh</a:t>
            </a:r>
            <a:endParaRPr lang="en-US" sz="1300" dirty="0">
              <a:latin typeface="Times New Roman" panose="02020603050405020304" pitchFamily="18" charset="0"/>
              <a:cs typeface="Times New Roman" panose="02020603050405020304" pitchFamily="18" charset="0"/>
            </a:endParaRPr>
          </a:p>
        </p:txBody>
      </p:sp>
      <p:sp>
        <p:nvSpPr>
          <p:cNvPr id="16" name="Text 14"/>
          <p:cNvSpPr/>
          <p:nvPr/>
        </p:nvSpPr>
        <p:spPr>
          <a:xfrm>
            <a:off x="3566160" y="5138928"/>
            <a:ext cx="2331720" cy="457200"/>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96.59%</a:t>
            </a:r>
            <a:endParaRPr lang="en-US" sz="2200" dirty="0">
              <a:latin typeface="Times New Roman" panose="02020603050405020304" pitchFamily="18" charset="0"/>
              <a:cs typeface="Times New Roman" panose="02020603050405020304" pitchFamily="18" charset="0"/>
            </a:endParaRPr>
          </a:p>
        </p:txBody>
      </p:sp>
      <p:sp>
        <p:nvSpPr>
          <p:cNvPr id="22" name="Shape 1">
            <a:extLst>
              <a:ext uri="{FF2B5EF4-FFF2-40B4-BE49-F238E27FC236}">
                <a16:creationId xmlns:a16="http://schemas.microsoft.com/office/drawing/2014/main" id="{4C8B8082-625F-66A2-3EE4-74831CDF2253}"/>
              </a:ext>
            </a:extLst>
          </p:cNvPr>
          <p:cNvSpPr/>
          <p:nvPr/>
        </p:nvSpPr>
        <p:spPr>
          <a:xfrm>
            <a:off x="-1019175" y="5623560"/>
            <a:ext cx="3291840" cy="3291840"/>
          </a:xfrm>
          <a:prstGeom prst="ellipse">
            <a:avLst/>
          </a:prstGeom>
          <a:solidFill>
            <a:srgbClr val="CADCFC"/>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26" name="Text 9">
            <a:extLst>
              <a:ext uri="{FF2B5EF4-FFF2-40B4-BE49-F238E27FC236}">
                <a16:creationId xmlns:a16="http://schemas.microsoft.com/office/drawing/2014/main" id="{99B5900A-D501-A3EB-23F5-641C49695E71}"/>
              </a:ext>
            </a:extLst>
          </p:cNvPr>
          <p:cNvSpPr/>
          <p:nvPr/>
        </p:nvSpPr>
        <p:spPr>
          <a:xfrm>
            <a:off x="960120" y="3894201"/>
            <a:ext cx="8229600" cy="274320"/>
          </a:xfrm>
          <a:prstGeom prst="rect">
            <a:avLst/>
          </a:prstGeom>
          <a:noFill/>
          <a:ln/>
        </p:spPr>
        <p:txBody>
          <a:bodyPr wrap="square" rtlCol="0" anchor="ctr"/>
          <a:lstStyle/>
          <a:p>
            <a:r>
              <a:rPr lang="en-US" sz="1100" dirty="0">
                <a:solidFill>
                  <a:srgbClr val="6B6E85"/>
                </a:solidFill>
                <a:latin typeface="Times New Roman" panose="02020603050405020304" pitchFamily="18" charset="0"/>
                <a:ea typeface="Calibri" pitchFamily="34" charset="-122"/>
                <a:cs typeface="Times New Roman" panose="02020603050405020304" pitchFamily="18" charset="0"/>
              </a:rPr>
              <a:t>       2023-2-60-010                 |                   2023-2-60-286</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548640" y="1600200"/>
            <a:ext cx="5349240" cy="676656"/>
          </a:xfrm>
          <a:prstGeom prst="roundRect">
            <a:avLst>
              <a:gd name="adj" fmla="val 9459"/>
            </a:avLst>
          </a:prstGeom>
          <a:solidFill>
            <a:srgbClr val="EEF3FC"/>
          </a:solidFill>
          <a:ln/>
        </p:spPr>
      </p:sp>
      <p:sp>
        <p:nvSpPr>
          <p:cNvPr id="5" name="Text 3"/>
          <p:cNvSpPr/>
          <p:nvPr/>
        </p:nvSpPr>
        <p:spPr>
          <a:xfrm>
            <a:off x="685800" y="1600200"/>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1508760" y="1600200"/>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Introduction &amp; Motivation</a:t>
            </a:r>
            <a:endParaRPr lang="en-US" sz="1500" dirty="0"/>
          </a:p>
        </p:txBody>
      </p:sp>
      <p:sp>
        <p:nvSpPr>
          <p:cNvPr id="7" name="Shape 5"/>
          <p:cNvSpPr/>
          <p:nvPr/>
        </p:nvSpPr>
        <p:spPr>
          <a:xfrm>
            <a:off x="548640" y="2441448"/>
            <a:ext cx="5349240" cy="676656"/>
          </a:xfrm>
          <a:prstGeom prst="roundRect">
            <a:avLst>
              <a:gd name="adj" fmla="val 9459"/>
            </a:avLst>
          </a:prstGeom>
          <a:solidFill>
            <a:srgbClr val="EEF3FC"/>
          </a:solidFill>
          <a:ln/>
        </p:spPr>
      </p:sp>
      <p:sp>
        <p:nvSpPr>
          <p:cNvPr id="8" name="Text 6"/>
          <p:cNvSpPr/>
          <p:nvPr/>
        </p:nvSpPr>
        <p:spPr>
          <a:xfrm>
            <a:off x="685800" y="2441448"/>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02</a:t>
            </a:r>
            <a:endParaRPr lang="en-US" sz="2400" dirty="0"/>
          </a:p>
        </p:txBody>
      </p:sp>
      <p:sp>
        <p:nvSpPr>
          <p:cNvPr id="9" name="Text 7"/>
          <p:cNvSpPr/>
          <p:nvPr/>
        </p:nvSpPr>
        <p:spPr>
          <a:xfrm>
            <a:off x="1508760" y="2441448"/>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Related Work</a:t>
            </a:r>
            <a:endParaRPr lang="en-US" sz="1500" dirty="0"/>
          </a:p>
        </p:txBody>
      </p:sp>
      <p:sp>
        <p:nvSpPr>
          <p:cNvPr id="10" name="Shape 8"/>
          <p:cNvSpPr/>
          <p:nvPr/>
        </p:nvSpPr>
        <p:spPr>
          <a:xfrm>
            <a:off x="548640" y="3282696"/>
            <a:ext cx="5349240" cy="676656"/>
          </a:xfrm>
          <a:prstGeom prst="roundRect">
            <a:avLst>
              <a:gd name="adj" fmla="val 9459"/>
            </a:avLst>
          </a:prstGeom>
          <a:solidFill>
            <a:srgbClr val="EEF3FC"/>
          </a:solidFill>
          <a:ln/>
        </p:spPr>
      </p:sp>
      <p:sp>
        <p:nvSpPr>
          <p:cNvPr id="11" name="Text 9"/>
          <p:cNvSpPr/>
          <p:nvPr/>
        </p:nvSpPr>
        <p:spPr>
          <a:xfrm>
            <a:off x="685800" y="3282696"/>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03</a:t>
            </a:r>
            <a:endParaRPr lang="en-US" sz="2400" dirty="0"/>
          </a:p>
        </p:txBody>
      </p:sp>
      <p:sp>
        <p:nvSpPr>
          <p:cNvPr id="12" name="Text 10"/>
          <p:cNvSpPr/>
          <p:nvPr/>
        </p:nvSpPr>
        <p:spPr>
          <a:xfrm>
            <a:off x="1508760" y="3282696"/>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Dataset &amp; Preprocessing</a:t>
            </a:r>
            <a:endParaRPr lang="en-US" sz="1500" dirty="0"/>
          </a:p>
        </p:txBody>
      </p:sp>
      <p:sp>
        <p:nvSpPr>
          <p:cNvPr id="13" name="Shape 11"/>
          <p:cNvSpPr/>
          <p:nvPr/>
        </p:nvSpPr>
        <p:spPr>
          <a:xfrm>
            <a:off x="548640" y="4123944"/>
            <a:ext cx="5349240" cy="676656"/>
          </a:xfrm>
          <a:prstGeom prst="roundRect">
            <a:avLst>
              <a:gd name="adj" fmla="val 9459"/>
            </a:avLst>
          </a:prstGeom>
          <a:solidFill>
            <a:srgbClr val="EEF3FC"/>
          </a:solidFill>
          <a:ln/>
        </p:spPr>
      </p:sp>
      <p:sp>
        <p:nvSpPr>
          <p:cNvPr id="14" name="Text 12"/>
          <p:cNvSpPr/>
          <p:nvPr/>
        </p:nvSpPr>
        <p:spPr>
          <a:xfrm>
            <a:off x="685800" y="4123944"/>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04</a:t>
            </a:r>
            <a:endParaRPr lang="en-US" sz="2400" dirty="0"/>
          </a:p>
        </p:txBody>
      </p:sp>
      <p:sp>
        <p:nvSpPr>
          <p:cNvPr id="15" name="Text 13"/>
          <p:cNvSpPr/>
          <p:nvPr/>
        </p:nvSpPr>
        <p:spPr>
          <a:xfrm>
            <a:off x="1508760" y="4123944"/>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Methodology — Framework Overview</a:t>
            </a:r>
            <a:endParaRPr lang="en-US" sz="1500" dirty="0"/>
          </a:p>
        </p:txBody>
      </p:sp>
      <p:sp>
        <p:nvSpPr>
          <p:cNvPr id="16" name="Shape 14"/>
          <p:cNvSpPr/>
          <p:nvPr/>
        </p:nvSpPr>
        <p:spPr>
          <a:xfrm>
            <a:off x="548640" y="4965192"/>
            <a:ext cx="5349240" cy="676656"/>
          </a:xfrm>
          <a:prstGeom prst="roundRect">
            <a:avLst>
              <a:gd name="adj" fmla="val 9459"/>
            </a:avLst>
          </a:prstGeom>
          <a:solidFill>
            <a:srgbClr val="EEF3FC"/>
          </a:solidFill>
          <a:ln/>
        </p:spPr>
      </p:sp>
      <p:sp>
        <p:nvSpPr>
          <p:cNvPr id="17" name="Text 15"/>
          <p:cNvSpPr/>
          <p:nvPr/>
        </p:nvSpPr>
        <p:spPr>
          <a:xfrm>
            <a:off x="685800" y="4965192"/>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05</a:t>
            </a:r>
            <a:endParaRPr lang="en-US" sz="2400" dirty="0"/>
          </a:p>
        </p:txBody>
      </p:sp>
      <p:sp>
        <p:nvSpPr>
          <p:cNvPr id="18" name="Text 16"/>
          <p:cNvSpPr/>
          <p:nvPr/>
        </p:nvSpPr>
        <p:spPr>
          <a:xfrm>
            <a:off x="1508760" y="4965192"/>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Backbone Screening (4 CNNs)</a:t>
            </a:r>
            <a:endParaRPr lang="en-US" sz="1500" dirty="0"/>
          </a:p>
        </p:txBody>
      </p:sp>
      <p:sp>
        <p:nvSpPr>
          <p:cNvPr id="19" name="Shape 17"/>
          <p:cNvSpPr/>
          <p:nvPr/>
        </p:nvSpPr>
        <p:spPr>
          <a:xfrm>
            <a:off x="6217920" y="1600200"/>
            <a:ext cx="5349240" cy="676656"/>
          </a:xfrm>
          <a:prstGeom prst="roundRect">
            <a:avLst>
              <a:gd name="adj" fmla="val 9459"/>
            </a:avLst>
          </a:prstGeom>
          <a:solidFill>
            <a:srgbClr val="EEF3FC"/>
          </a:solidFill>
          <a:ln/>
        </p:spPr>
      </p:sp>
      <p:sp>
        <p:nvSpPr>
          <p:cNvPr id="20" name="Text 18"/>
          <p:cNvSpPr/>
          <p:nvPr/>
        </p:nvSpPr>
        <p:spPr>
          <a:xfrm>
            <a:off x="6355080" y="1600200"/>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06</a:t>
            </a:r>
            <a:endParaRPr lang="en-US" sz="2400" dirty="0"/>
          </a:p>
        </p:txBody>
      </p:sp>
      <p:sp>
        <p:nvSpPr>
          <p:cNvPr id="21" name="Text 19"/>
          <p:cNvSpPr/>
          <p:nvPr/>
        </p:nvSpPr>
        <p:spPr>
          <a:xfrm>
            <a:off x="7178040" y="1600200"/>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Proposed Fine-Tuned ResNet50</a:t>
            </a:r>
            <a:endParaRPr lang="en-US" sz="1500" dirty="0"/>
          </a:p>
        </p:txBody>
      </p:sp>
      <p:sp>
        <p:nvSpPr>
          <p:cNvPr id="22" name="Shape 20"/>
          <p:cNvSpPr/>
          <p:nvPr/>
        </p:nvSpPr>
        <p:spPr>
          <a:xfrm>
            <a:off x="6217920" y="2441448"/>
            <a:ext cx="5349240" cy="676656"/>
          </a:xfrm>
          <a:prstGeom prst="roundRect">
            <a:avLst>
              <a:gd name="adj" fmla="val 9459"/>
            </a:avLst>
          </a:prstGeom>
          <a:solidFill>
            <a:srgbClr val="EEF3FC"/>
          </a:solidFill>
          <a:ln/>
        </p:spPr>
      </p:sp>
      <p:sp>
        <p:nvSpPr>
          <p:cNvPr id="23" name="Text 21"/>
          <p:cNvSpPr/>
          <p:nvPr/>
        </p:nvSpPr>
        <p:spPr>
          <a:xfrm>
            <a:off x="6355080" y="2441448"/>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07</a:t>
            </a:r>
            <a:endParaRPr lang="en-US" sz="2400" dirty="0"/>
          </a:p>
        </p:txBody>
      </p:sp>
      <p:sp>
        <p:nvSpPr>
          <p:cNvPr id="24" name="Text 22"/>
          <p:cNvSpPr/>
          <p:nvPr/>
        </p:nvSpPr>
        <p:spPr>
          <a:xfrm>
            <a:off x="7178040" y="2441448"/>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Threshold Calibration &amp; Ablations</a:t>
            </a:r>
            <a:endParaRPr lang="en-US" sz="1500" dirty="0"/>
          </a:p>
        </p:txBody>
      </p:sp>
      <p:sp>
        <p:nvSpPr>
          <p:cNvPr id="25" name="Shape 23"/>
          <p:cNvSpPr/>
          <p:nvPr/>
        </p:nvSpPr>
        <p:spPr>
          <a:xfrm>
            <a:off x="6217920" y="3282696"/>
            <a:ext cx="5349240" cy="676656"/>
          </a:xfrm>
          <a:prstGeom prst="roundRect">
            <a:avLst>
              <a:gd name="adj" fmla="val 9459"/>
            </a:avLst>
          </a:prstGeom>
          <a:solidFill>
            <a:srgbClr val="EEF3FC"/>
          </a:solidFill>
          <a:ln/>
        </p:spPr>
      </p:sp>
      <p:sp>
        <p:nvSpPr>
          <p:cNvPr id="26" name="Text 24"/>
          <p:cNvSpPr/>
          <p:nvPr/>
        </p:nvSpPr>
        <p:spPr>
          <a:xfrm>
            <a:off x="6355080" y="3282696"/>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08</a:t>
            </a:r>
            <a:endParaRPr lang="en-US" sz="2400" dirty="0"/>
          </a:p>
        </p:txBody>
      </p:sp>
      <p:sp>
        <p:nvSpPr>
          <p:cNvPr id="27" name="Text 25"/>
          <p:cNvSpPr/>
          <p:nvPr/>
        </p:nvSpPr>
        <p:spPr>
          <a:xfrm>
            <a:off x="7178040" y="3282696"/>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Explainable AI — Grad-CAM</a:t>
            </a:r>
            <a:endParaRPr lang="en-US" sz="1500" dirty="0"/>
          </a:p>
        </p:txBody>
      </p:sp>
      <p:sp>
        <p:nvSpPr>
          <p:cNvPr id="28" name="Shape 26"/>
          <p:cNvSpPr/>
          <p:nvPr/>
        </p:nvSpPr>
        <p:spPr>
          <a:xfrm>
            <a:off x="6217920" y="4123944"/>
            <a:ext cx="5349240" cy="676656"/>
          </a:xfrm>
          <a:prstGeom prst="roundRect">
            <a:avLst>
              <a:gd name="adj" fmla="val 9459"/>
            </a:avLst>
          </a:prstGeom>
          <a:solidFill>
            <a:srgbClr val="EEF3FC"/>
          </a:solidFill>
          <a:ln/>
        </p:spPr>
      </p:sp>
      <p:sp>
        <p:nvSpPr>
          <p:cNvPr id="29" name="Text 27"/>
          <p:cNvSpPr/>
          <p:nvPr/>
        </p:nvSpPr>
        <p:spPr>
          <a:xfrm>
            <a:off x="6355080" y="4123944"/>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09</a:t>
            </a:r>
            <a:endParaRPr lang="en-US" sz="2400" dirty="0"/>
          </a:p>
        </p:txBody>
      </p:sp>
      <p:sp>
        <p:nvSpPr>
          <p:cNvPr id="30" name="Text 28"/>
          <p:cNvSpPr/>
          <p:nvPr/>
        </p:nvSpPr>
        <p:spPr>
          <a:xfrm>
            <a:off x="7178040" y="4123944"/>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Results &amp; Benchmark Comparison</a:t>
            </a:r>
            <a:endParaRPr lang="en-US" sz="1500" dirty="0"/>
          </a:p>
        </p:txBody>
      </p:sp>
      <p:sp>
        <p:nvSpPr>
          <p:cNvPr id="31" name="Shape 29"/>
          <p:cNvSpPr/>
          <p:nvPr/>
        </p:nvSpPr>
        <p:spPr>
          <a:xfrm>
            <a:off x="6217920" y="4965192"/>
            <a:ext cx="5349240" cy="676656"/>
          </a:xfrm>
          <a:prstGeom prst="roundRect">
            <a:avLst>
              <a:gd name="adj" fmla="val 9459"/>
            </a:avLst>
          </a:prstGeom>
          <a:solidFill>
            <a:srgbClr val="EEF3FC"/>
          </a:solidFill>
          <a:ln/>
        </p:spPr>
      </p:sp>
      <p:sp>
        <p:nvSpPr>
          <p:cNvPr id="32" name="Text 30"/>
          <p:cNvSpPr/>
          <p:nvPr/>
        </p:nvSpPr>
        <p:spPr>
          <a:xfrm>
            <a:off x="6355080" y="4965192"/>
            <a:ext cx="822960" cy="676656"/>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10</a:t>
            </a:r>
            <a:endParaRPr lang="en-US" sz="2400" dirty="0"/>
          </a:p>
        </p:txBody>
      </p:sp>
      <p:sp>
        <p:nvSpPr>
          <p:cNvPr id="33" name="Text 31"/>
          <p:cNvSpPr/>
          <p:nvPr/>
        </p:nvSpPr>
        <p:spPr>
          <a:xfrm>
            <a:off x="7178040" y="4965192"/>
            <a:ext cx="4251960" cy="676656"/>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Conclusion &amp; Contributions</a:t>
            </a:r>
            <a:endParaRPr lang="en-US" sz="1500" dirty="0"/>
          </a:p>
        </p:txBody>
      </p:sp>
      <p:sp>
        <p:nvSpPr>
          <p:cNvPr id="35" name="Text 3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Cambria" pitchFamily="34" charset="0"/>
                <a:ea typeface="Cambria" pitchFamily="34" charset="-122"/>
                <a:cs typeface="Cambria" pitchFamily="34" charset="-120"/>
              </a:rPr>
              <a:t>Motivation &amp; Problem Statement</a:t>
            </a:r>
            <a:endParaRPr lang="en-US" sz="3000" dirty="0"/>
          </a:p>
        </p:txBody>
      </p:sp>
      <p:sp>
        <p:nvSpPr>
          <p:cNvPr id="4" name="Text 2"/>
          <p:cNvSpPr/>
          <p:nvPr/>
        </p:nvSpPr>
        <p:spPr>
          <a:xfrm>
            <a:off x="548640" y="1691640"/>
            <a:ext cx="10741401" cy="3393544"/>
          </a:xfrm>
          <a:prstGeom prst="rect">
            <a:avLst/>
          </a:prstGeom>
          <a:noFill/>
          <a:ln/>
        </p:spPr>
        <p:txBody>
          <a:bodyPr wrap="square" rtlCol="0" anchor="t"/>
          <a:lstStyle/>
          <a:p>
            <a:pPr marL="342900" indent="-342900">
              <a:lnSpc>
                <a:spcPts val="2200"/>
              </a:lnSpc>
              <a:spcAft>
                <a:spcPts val="1400"/>
              </a:spcAft>
              <a:buSzPct val="100000"/>
              <a:buChar char="●"/>
            </a:pPr>
            <a:r>
              <a:rPr lang="en-US" sz="1400" dirty="0">
                <a:latin typeface="Times New Roman" panose="02020603050405020304" pitchFamily="18" charset="0"/>
                <a:cs typeface="Times New Roman" panose="02020603050405020304" pitchFamily="18" charset="0"/>
              </a:rPr>
              <a:t>Malignant and benign skin lesions can look very similar, but they need different medical treatment.</a:t>
            </a:r>
          </a:p>
          <a:p>
            <a:pPr marL="342900" indent="-342900">
              <a:lnSpc>
                <a:spcPts val="2200"/>
              </a:lnSpc>
              <a:spcAft>
                <a:spcPts val="1400"/>
              </a:spcAft>
              <a:buSzPct val="100000"/>
              <a:buChar char="●"/>
            </a:pPr>
            <a:r>
              <a:rPr lang="en-US" sz="1400" dirty="0">
                <a:latin typeface="Times New Roman" panose="02020603050405020304" pitchFamily="18" charset="0"/>
                <a:cs typeface="Times New Roman" panose="02020603050405020304" pitchFamily="18" charset="0"/>
              </a:rPr>
              <a:t>Skin lesion images can have many variations, such as differences in color, texture, shape, border, and lighting. Things like hair, shadows, and other image artifacts can also appear in the image. These variations make automatic classification more challenging for deep learning models.</a:t>
            </a:r>
          </a:p>
          <a:p>
            <a:pPr marL="342900" indent="-342900">
              <a:lnSpc>
                <a:spcPts val="2200"/>
              </a:lnSpc>
              <a:spcAft>
                <a:spcPts val="1400"/>
              </a:spcAft>
              <a:buSzPct val="100000"/>
              <a:buChar char="●"/>
            </a:pPr>
            <a:r>
              <a:rPr lang="en-US" sz="1400" dirty="0">
                <a:latin typeface="Times New Roman" panose="02020603050405020304" pitchFamily="18" charset="0"/>
                <a:cs typeface="Times New Roman" panose="02020603050405020304" pitchFamily="18" charset="0"/>
              </a:rPr>
              <a:t>Previous research used a hybrid approach to solve this problem. For example, the reference work used DarkNet53 to extract deep features, then WPCA for feature reduction, followed by Random Forest for classification. This approach achieved 88.01% accuracy, providing a useful benchmark for comparison.</a:t>
            </a:r>
          </a:p>
          <a:p>
            <a:pPr marL="342900" indent="-342900">
              <a:lnSpc>
                <a:spcPts val="2200"/>
              </a:lnSpc>
              <a:spcAft>
                <a:spcPts val="1400"/>
              </a:spcAft>
              <a:buSzPct val="100000"/>
              <a:buChar char="●"/>
            </a:pPr>
            <a:r>
              <a:rPr lang="en-US" sz="1400" dirty="0">
                <a:latin typeface="Times New Roman" panose="02020603050405020304" pitchFamily="18" charset="0"/>
                <a:cs typeface="Times New Roman" panose="02020603050405020304" pitchFamily="18" charset="0"/>
              </a:rPr>
              <a:t>Our objective is to develop a simpler end-to-end approach. Instead of extracting features and then using a separate classical machine-learning classifier, we fine-tune a CNN directly for the classification task. The main goal is to determine whether this directly fine-tuned CNN can achieve higher accuracy than the 88.01% benchmark while keeping the overall pipeline simpler.</a:t>
            </a:r>
          </a:p>
        </p:txBody>
      </p:sp>
      <p:sp>
        <p:nvSpPr>
          <p:cNvPr id="16" name="Text 14"/>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02 · RELATED WORK</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From Handcrafted Features to Deep Transfer Learning</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600200"/>
            <a:ext cx="5120640" cy="320040"/>
          </a:xfrm>
          <a:prstGeom prst="rect">
            <a:avLst/>
          </a:prstGeom>
          <a:noFill/>
          <a:ln/>
        </p:spPr>
        <p:txBody>
          <a:bodyPr wrap="square" rtlCol="0" anchor="ctr"/>
          <a:lstStyle/>
          <a:p>
            <a:pPr marL="0" indent="0">
              <a:buNone/>
            </a:pPr>
            <a:r>
              <a:rPr lang="en-US" sz="1500" b="1" dirty="0">
                <a:solidFill>
                  <a:srgbClr val="015F6B"/>
                </a:solidFill>
                <a:latin typeface="Times New Roman" panose="02020603050405020304" pitchFamily="18" charset="0"/>
                <a:ea typeface="Calibri" pitchFamily="34" charset="-122"/>
                <a:cs typeface="Times New Roman" panose="02020603050405020304" pitchFamily="18" charset="0"/>
              </a:rPr>
              <a:t>Classical Approaches</a:t>
            </a:r>
            <a:endParaRPr lang="en-US" sz="1500" b="1" dirty="0">
              <a:latin typeface="Times New Roman" panose="02020603050405020304" pitchFamily="18" charset="0"/>
              <a:cs typeface="Times New Roman" panose="02020603050405020304" pitchFamily="18" charset="0"/>
            </a:endParaRPr>
          </a:p>
        </p:txBody>
      </p:sp>
      <p:sp>
        <p:nvSpPr>
          <p:cNvPr id="5" name="Text 3"/>
          <p:cNvSpPr/>
          <p:nvPr/>
        </p:nvSpPr>
        <p:spPr>
          <a:xfrm>
            <a:off x="279919" y="1950004"/>
            <a:ext cx="5518122" cy="1799035"/>
          </a:xfrm>
          <a:prstGeom prst="rect">
            <a:avLst/>
          </a:prstGeom>
          <a:noFill/>
          <a:ln/>
        </p:spPr>
        <p:txBody>
          <a:bodyPr wrap="square" rtlCol="0" anchor="ctr"/>
          <a:lstStyle/>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Used handcrafted lesion features such as border, texture, and asymmetry.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These features were then classified using SVM, KNN, or Random Forest.</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Main limitation: performance depends heavily on the quality of manually designed features.</a:t>
            </a:r>
          </a:p>
        </p:txBody>
      </p:sp>
      <p:sp>
        <p:nvSpPr>
          <p:cNvPr id="6" name="Text 4"/>
          <p:cNvSpPr/>
          <p:nvPr/>
        </p:nvSpPr>
        <p:spPr>
          <a:xfrm>
            <a:off x="548640" y="3944050"/>
            <a:ext cx="5120640" cy="320040"/>
          </a:xfrm>
          <a:prstGeom prst="rect">
            <a:avLst/>
          </a:prstGeom>
          <a:noFill/>
          <a:ln/>
        </p:spPr>
        <p:txBody>
          <a:bodyPr wrap="square" rtlCol="0" anchor="ctr"/>
          <a:lstStyle/>
          <a:p>
            <a:pPr marL="0" indent="0">
              <a:buNone/>
            </a:pPr>
            <a:r>
              <a:rPr lang="en-US" sz="1500" b="1" dirty="0">
                <a:solidFill>
                  <a:srgbClr val="015F6B"/>
                </a:solidFill>
                <a:latin typeface="Times New Roman" panose="02020603050405020304" pitchFamily="18" charset="0"/>
                <a:ea typeface="Calibri" pitchFamily="34" charset="-122"/>
                <a:cs typeface="Times New Roman" panose="02020603050405020304" pitchFamily="18" charset="0"/>
              </a:rPr>
              <a:t>Deep Feature + Hybrid Classifiers</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694198" y="4475055"/>
            <a:ext cx="5249402" cy="1779442"/>
          </a:xfrm>
          <a:prstGeom prst="rect">
            <a:avLst/>
          </a:prstGeom>
          <a:noFill/>
          <a:ln/>
        </p:spPr>
        <p:txBody>
          <a:bodyPr wrap="square" rtlCol="0" anchor="ct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Recent studies use CNNs such as </a:t>
            </a:r>
            <a:r>
              <a:rPr lang="en-US" sz="1400" dirty="0" err="1">
                <a:latin typeface="Times New Roman" panose="02020603050405020304" pitchFamily="18" charset="0"/>
                <a:cs typeface="Times New Roman" panose="02020603050405020304" pitchFamily="18" charset="0"/>
              </a:rPr>
              <a:t>ShuffleNet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SqueezeNet</a:t>
            </a:r>
            <a:r>
              <a:rPr lang="en-US" sz="1400" dirty="0">
                <a:latin typeface="Times New Roman" panose="02020603050405020304" pitchFamily="18" charset="0"/>
                <a:cs typeface="Times New Roman" panose="02020603050405020304" pitchFamily="18" charset="0"/>
              </a:rPr>
              <a:t>, DarkNet53, and </a:t>
            </a:r>
            <a:r>
              <a:rPr lang="en-US" sz="1400" dirty="0" err="1">
                <a:latin typeface="Times New Roman" panose="02020603050405020304" pitchFamily="18" charset="0"/>
                <a:cs typeface="Times New Roman" panose="02020603050405020304" pitchFamily="18" charset="0"/>
              </a:rPr>
              <a:t>Xception</a:t>
            </a:r>
            <a:r>
              <a:rPr lang="en-US" sz="1400" dirty="0">
                <a:latin typeface="Times New Roman" panose="02020603050405020304" pitchFamily="18" charset="0"/>
                <a:cs typeface="Times New Roman" panose="02020603050405020304" pitchFamily="18" charset="0"/>
              </a:rPr>
              <a:t> to extract deep features.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These features are then reduced using WPCA and classified using Random Forest or SVM.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DarkNet53 + WPCA + Random Forest achieved 88.01% accuracy, which is used as our reference benchmark.</a:t>
            </a:r>
          </a:p>
        </p:txBody>
      </p:sp>
      <p:sp>
        <p:nvSpPr>
          <p:cNvPr id="8" name="Shape 6"/>
          <p:cNvSpPr/>
          <p:nvPr/>
        </p:nvSpPr>
        <p:spPr>
          <a:xfrm>
            <a:off x="6064278" y="1602999"/>
            <a:ext cx="5518122" cy="2459736"/>
          </a:xfrm>
          <a:prstGeom prst="roundRect">
            <a:avLst>
              <a:gd name="adj" fmla="val 3404"/>
            </a:avLst>
          </a:prstGeom>
          <a:solidFill>
            <a:srgbClr val="EEF3FC"/>
          </a:solidFill>
          <a:ln/>
        </p:spPr>
      </p:sp>
      <p:sp>
        <p:nvSpPr>
          <p:cNvPr id="9" name="Text 7"/>
          <p:cNvSpPr/>
          <p:nvPr/>
        </p:nvSpPr>
        <p:spPr>
          <a:xfrm>
            <a:off x="6400800" y="1725020"/>
            <a:ext cx="502920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Our Work: End-to-End CNN</a:t>
            </a:r>
            <a:endParaRPr lang="en-US" sz="1500" dirty="0">
              <a:latin typeface="Times New Roman" panose="02020603050405020304" pitchFamily="18" charset="0"/>
              <a:cs typeface="Times New Roman" panose="02020603050405020304" pitchFamily="18" charset="0"/>
            </a:endParaRPr>
          </a:p>
        </p:txBody>
      </p:sp>
      <p:sp>
        <p:nvSpPr>
          <p:cNvPr id="10" name="Text 8"/>
          <p:cNvSpPr/>
          <p:nvPr/>
        </p:nvSpPr>
        <p:spPr>
          <a:xfrm>
            <a:off x="6559421" y="2062182"/>
            <a:ext cx="4954555" cy="1822642"/>
          </a:xfrm>
          <a:prstGeom prst="rect">
            <a:avLst/>
          </a:prstGeom>
          <a:noFill/>
          <a:ln/>
        </p:spPr>
        <p:txBody>
          <a:bodyPr wrap="square" rtlCol="0" anchor="ctr"/>
          <a:lstStyle/>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 remove the separate feature extraction and classical ML stages. </a:t>
            </a:r>
          </a:p>
          <a:p>
            <a:pPr lvl="0"/>
            <a:endParaRPr lang="en-US" sz="1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 CNN is fine-tuned directly for benign vs. malignant classification.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 compare ResNet50, DenseNet121, MobileNetV2, and EfficientNet-B4 under the same evaluation protocol.</a:t>
            </a:r>
          </a:p>
        </p:txBody>
      </p:sp>
      <p:sp>
        <p:nvSpPr>
          <p:cNvPr id="11" name="Shape 9"/>
          <p:cNvSpPr/>
          <p:nvPr/>
        </p:nvSpPr>
        <p:spPr>
          <a:xfrm>
            <a:off x="6096000" y="4587536"/>
            <a:ext cx="5516880" cy="1779442"/>
          </a:xfrm>
          <a:prstGeom prst="roundRect">
            <a:avLst>
              <a:gd name="adj" fmla="val 4706"/>
            </a:avLst>
          </a:prstGeom>
          <a:solidFill>
            <a:srgbClr val="EEF3FC"/>
          </a:solidFill>
          <a:ln/>
        </p:spPr>
      </p:sp>
      <p:sp>
        <p:nvSpPr>
          <p:cNvPr id="12" name="Text 10"/>
          <p:cNvSpPr/>
          <p:nvPr/>
        </p:nvSpPr>
        <p:spPr>
          <a:xfrm>
            <a:off x="6400800" y="4700438"/>
            <a:ext cx="5029200" cy="320040"/>
          </a:xfrm>
          <a:prstGeom prst="rect">
            <a:avLst/>
          </a:prstGeom>
          <a:noFill/>
          <a:ln/>
        </p:spPr>
        <p:txBody>
          <a:bodyPr wrap="square" rtlCol="0" anchor="ctr"/>
          <a:lstStyle/>
          <a:p>
            <a:pPr marL="0" indent="0">
              <a:buNone/>
            </a:pPr>
            <a:r>
              <a:rPr lang="en-US" sz="1500" b="1" dirty="0">
                <a:solidFill>
                  <a:srgbClr val="1E2761"/>
                </a:solidFill>
                <a:latin typeface="Times New Roman" panose="02020603050405020304" pitchFamily="18" charset="0"/>
                <a:ea typeface="Calibri" pitchFamily="34" charset="-122"/>
                <a:cs typeface="Times New Roman" panose="02020603050405020304" pitchFamily="18" charset="0"/>
              </a:rPr>
              <a:t>Explainability</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6484776" y="5112337"/>
            <a:ext cx="4945224" cy="1142160"/>
          </a:xfrm>
          <a:prstGeom prst="rect">
            <a:avLst/>
          </a:prstGeom>
          <a:noFill/>
          <a:ln/>
        </p:spPr>
        <p:txBody>
          <a:bodyPr wrap="square" rtlCol="0" anchor="ctr"/>
          <a:lstStyle/>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We use </a:t>
            </a:r>
            <a:r>
              <a:rPr lang="en-US" sz="1400" b="1" dirty="0">
                <a:latin typeface="Times New Roman" panose="02020603050405020304" pitchFamily="18" charset="0"/>
                <a:cs typeface="Times New Roman" panose="02020603050405020304" pitchFamily="18" charset="0"/>
              </a:rPr>
              <a:t>Grad-CAM</a:t>
            </a:r>
            <a:r>
              <a:rPr lang="en-US" sz="1400" dirty="0">
                <a:latin typeface="Times New Roman" panose="02020603050405020304" pitchFamily="18" charset="0"/>
                <a:cs typeface="Times New Roman" panose="02020603050405020304" pitchFamily="18" charset="0"/>
              </a:rPr>
              <a:t> to visualize which parts of the lesion influence the model's prediction.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helps us understand the model's attention, but it is </a:t>
            </a:r>
            <a:r>
              <a:rPr lang="en-US" sz="1400" b="1" dirty="0">
                <a:latin typeface="Times New Roman" panose="02020603050405020304" pitchFamily="18" charset="0"/>
                <a:cs typeface="Times New Roman" panose="02020603050405020304" pitchFamily="18" charset="0"/>
              </a:rPr>
              <a:t>not a clinical or causal explanation</a:t>
            </a:r>
            <a:r>
              <a:rPr lang="en-US" sz="1400" dirty="0">
                <a:latin typeface="Times New Roman" panose="02020603050405020304" pitchFamily="18" charset="0"/>
                <a:cs typeface="Times New Roman" panose="02020603050405020304" pitchFamily="18" charset="0"/>
              </a:rPr>
              <a:t>.</a:t>
            </a:r>
          </a:p>
        </p:txBody>
      </p:sp>
      <p:sp>
        <p:nvSpPr>
          <p:cNvPr id="15" name="Text 1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4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03 · DATASET</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Skin Cancer: Malignant vs. Benign (ISIC / Kaggle)</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572768"/>
            <a:ext cx="7315200" cy="292608"/>
          </a:xfrm>
          <a:prstGeom prst="rect">
            <a:avLst/>
          </a:prstGeom>
          <a:noFill/>
          <a:ln/>
        </p:spPr>
        <p:txBody>
          <a:bodyPr wrap="square" rtlCol="0" anchor="ctr"/>
          <a:lstStyle/>
          <a:p>
            <a:pPr marL="0" indent="0">
              <a:buNone/>
            </a:pPr>
            <a:r>
              <a:rPr lang="en-US" sz="1600" b="1" i="1" dirty="0">
                <a:solidFill>
                  <a:schemeClr val="accent2">
                    <a:lumMod val="75000"/>
                  </a:schemeClr>
                </a:solidFill>
                <a:latin typeface="Times New Roman" panose="02020603050405020304" pitchFamily="18" charset="0"/>
                <a:ea typeface="Calibri" pitchFamily="34" charset="-122"/>
                <a:cs typeface="Times New Roman" panose="02020603050405020304" pitchFamily="18" charset="0"/>
              </a:rPr>
              <a:t>Stratified train / validation / test partitioning (seed = 42)</a:t>
            </a:r>
            <a:endParaRPr lang="en-US" sz="1600" b="1" dirty="0">
              <a:solidFill>
                <a:schemeClr val="accent2">
                  <a:lumMod val="75000"/>
                </a:schemeClr>
              </a:solidFill>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1123486677"/>
              </p:ext>
            </p:extLst>
          </p:nvPr>
        </p:nvGraphicFramePr>
        <p:xfrm>
          <a:off x="548640" y="2011680"/>
          <a:ext cx="6492240" cy="2651760"/>
        </p:xfrm>
        <a:graphic>
          <a:graphicData uri="http://schemas.openxmlformats.org/drawingml/2006/table">
            <a:tbl>
              <a:tblPr/>
              <a:tblGrid>
                <a:gridCol w="192024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Subset</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Benign</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Malignant</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Total</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0352">
                <a:tc>
                  <a:txBody>
                    <a:bodyPr/>
                    <a:lstStyle/>
                    <a:p>
                      <a:pPr marL="0" indent="0">
                        <a:buNone/>
                      </a:pPr>
                      <a:r>
                        <a:rPr lang="en-US" sz="1350" dirty="0">
                          <a:solidFill>
                            <a:srgbClr val="222436"/>
                          </a:solidFill>
                          <a:latin typeface="Calibri" pitchFamily="34" charset="0"/>
                          <a:ea typeface="Calibri" pitchFamily="34" charset="-122"/>
                          <a:cs typeface="Calibri" pitchFamily="34" charset="-120"/>
                        </a:rPr>
                        <a:t>Training</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marL="0" indent="0" algn="ctr">
                        <a:buNone/>
                      </a:pPr>
                      <a:r>
                        <a:rPr lang="en-US" sz="1350" dirty="0">
                          <a:solidFill>
                            <a:srgbClr val="000000"/>
                          </a:solidFill>
                          <a:latin typeface="Calibri" pitchFamily="34" charset="0"/>
                          <a:ea typeface="Calibri" pitchFamily="34" charset="-122"/>
                          <a:cs typeface="Calibri" pitchFamily="34" charset="-120"/>
                        </a:rPr>
                        <a:t>1,152</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marL="0" indent="0" algn="ctr">
                        <a:buNone/>
                      </a:pPr>
                      <a:r>
                        <a:rPr lang="en-US" sz="1350" dirty="0">
                          <a:solidFill>
                            <a:srgbClr val="000000"/>
                          </a:solidFill>
                          <a:latin typeface="Calibri" pitchFamily="34" charset="0"/>
                          <a:ea typeface="Calibri" pitchFamily="34" charset="-122"/>
                          <a:cs typeface="Calibri" pitchFamily="34" charset="-120"/>
                        </a:rPr>
                        <a:t>957</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marL="0" indent="0" algn="ctr">
                        <a:buNone/>
                      </a:pPr>
                      <a:r>
                        <a:rPr lang="en-US" sz="1350" b="1" dirty="0">
                          <a:solidFill>
                            <a:srgbClr val="000000"/>
                          </a:solidFill>
                          <a:latin typeface="Calibri" pitchFamily="34" charset="0"/>
                          <a:ea typeface="Calibri" pitchFamily="34" charset="-122"/>
                          <a:cs typeface="Calibri" pitchFamily="34" charset="-120"/>
                        </a:rPr>
                        <a:t>2,109</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350" dirty="0">
                          <a:solidFill>
                            <a:srgbClr val="222436"/>
                          </a:solidFill>
                          <a:latin typeface="Calibri" pitchFamily="34" charset="0"/>
                          <a:ea typeface="Calibri" pitchFamily="34" charset="-122"/>
                          <a:cs typeface="Calibri" pitchFamily="34" charset="-120"/>
                        </a:rPr>
                        <a:t>Validation</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350" dirty="0">
                          <a:solidFill>
                            <a:srgbClr val="000000"/>
                          </a:solidFill>
                          <a:latin typeface="Calibri" pitchFamily="34" charset="0"/>
                          <a:ea typeface="Calibri" pitchFamily="34" charset="-122"/>
                          <a:cs typeface="Calibri" pitchFamily="34" charset="-120"/>
                        </a:rPr>
                        <a:t>288</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350" dirty="0">
                          <a:solidFill>
                            <a:srgbClr val="000000"/>
                          </a:solidFill>
                          <a:latin typeface="Calibri" pitchFamily="34" charset="0"/>
                          <a:ea typeface="Calibri" pitchFamily="34" charset="-122"/>
                          <a:cs typeface="Calibri" pitchFamily="34" charset="-120"/>
                        </a:rPr>
                        <a:t>240</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350" b="1" dirty="0">
                          <a:solidFill>
                            <a:srgbClr val="000000"/>
                          </a:solidFill>
                          <a:latin typeface="Calibri" pitchFamily="34" charset="0"/>
                          <a:ea typeface="Calibri" pitchFamily="34" charset="-122"/>
                          <a:cs typeface="Calibri" pitchFamily="34" charset="-120"/>
                        </a:rPr>
                        <a:t>528</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530352">
                <a:tc>
                  <a:txBody>
                    <a:bodyPr/>
                    <a:lstStyle/>
                    <a:p>
                      <a:pPr marL="0" indent="0">
                        <a:buNone/>
                      </a:pPr>
                      <a:r>
                        <a:rPr lang="en-US" sz="1350" dirty="0">
                          <a:solidFill>
                            <a:srgbClr val="222436"/>
                          </a:solidFill>
                          <a:latin typeface="Calibri" pitchFamily="34" charset="0"/>
                          <a:ea typeface="Calibri" pitchFamily="34" charset="-122"/>
                          <a:cs typeface="Calibri" pitchFamily="34" charset="-120"/>
                        </a:rPr>
                        <a:t>Official Test</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marL="0" indent="0" algn="ctr">
                        <a:buNone/>
                      </a:pPr>
                      <a:r>
                        <a:rPr lang="en-US" sz="1350" dirty="0">
                          <a:solidFill>
                            <a:srgbClr val="000000"/>
                          </a:solidFill>
                          <a:latin typeface="Calibri" pitchFamily="34" charset="0"/>
                          <a:ea typeface="Calibri" pitchFamily="34" charset="-122"/>
                          <a:cs typeface="Calibri" pitchFamily="34" charset="-120"/>
                        </a:rPr>
                        <a:t>360</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marL="0" indent="0" algn="ctr">
                        <a:buNone/>
                      </a:pPr>
                      <a:r>
                        <a:rPr lang="en-US" sz="1350" dirty="0">
                          <a:solidFill>
                            <a:srgbClr val="000000"/>
                          </a:solidFill>
                          <a:latin typeface="Calibri" pitchFamily="34" charset="0"/>
                          <a:ea typeface="Calibri" pitchFamily="34" charset="-122"/>
                          <a:cs typeface="Calibri" pitchFamily="34" charset="-120"/>
                        </a:rPr>
                        <a:t>300</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tc>
                  <a:txBody>
                    <a:bodyPr/>
                    <a:lstStyle/>
                    <a:p>
                      <a:pPr marL="0" indent="0" algn="ctr">
                        <a:buNone/>
                      </a:pPr>
                      <a:r>
                        <a:rPr lang="en-US" sz="1350" b="1" dirty="0">
                          <a:solidFill>
                            <a:srgbClr val="000000"/>
                          </a:solidFill>
                          <a:latin typeface="Calibri" pitchFamily="34" charset="0"/>
                          <a:ea typeface="Calibri" pitchFamily="34" charset="-122"/>
                          <a:cs typeface="Calibri" pitchFamily="34" charset="-120"/>
                        </a:rPr>
                        <a:t>660</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Total</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15F6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1,800</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15F6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1,497</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15F6B"/>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3,297</a:t>
                      </a:r>
                      <a:endParaRPr lang="en-US" sz="135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15F6B"/>
                    </a:solidFill>
                  </a:tcPr>
                </a:tc>
                <a:extLst>
                  <a:ext uri="{0D108BD9-81ED-4DB2-BD59-A6C34878D82A}">
                    <a16:rowId xmlns:a16="http://schemas.microsoft.com/office/drawing/2014/main" val="10004"/>
                  </a:ext>
                </a:extLst>
              </a:tr>
            </a:tbl>
          </a:graphicData>
        </a:graphic>
      </p:graphicFrame>
      <p:sp>
        <p:nvSpPr>
          <p:cNvPr id="5" name="Text 3"/>
          <p:cNvSpPr/>
          <p:nvPr/>
        </p:nvSpPr>
        <p:spPr>
          <a:xfrm>
            <a:off x="548640" y="4892039"/>
            <a:ext cx="6492240" cy="1490099"/>
          </a:xfrm>
          <a:prstGeom prst="rect">
            <a:avLst/>
          </a:prstGeom>
          <a:noFill/>
          <a:ln/>
        </p:spPr>
        <p:txBody>
          <a:bodyPr wrap="square" rtlCol="0" anchor="ctr"/>
          <a:lstStyle/>
          <a:p>
            <a:pPr marL="342900" indent="-342900">
              <a:lnSpc>
                <a:spcPts val="1600"/>
              </a:lnSpc>
              <a:spcAft>
                <a:spcPts val="800"/>
              </a:spcAft>
              <a:buSzPct val="100000"/>
              <a:buChar char="●"/>
            </a:pPr>
            <a:r>
              <a:rPr lang="en-US" sz="1400" dirty="0">
                <a:solidFill>
                  <a:srgbClr val="222436"/>
                </a:solidFill>
                <a:latin typeface="Times New Roman" panose="02020603050405020304" pitchFamily="18" charset="0"/>
                <a:ea typeface="Calibri" pitchFamily="34" charset="-122"/>
                <a:cs typeface="Times New Roman" panose="02020603050405020304" pitchFamily="18" charset="0"/>
              </a:rPr>
              <a:t>The official test set is held out entirely; only the training split is further divided 80:20 into train / validation.</a:t>
            </a:r>
            <a:endParaRPr lang="en-US" sz="1400" dirty="0">
              <a:latin typeface="Times New Roman" panose="02020603050405020304" pitchFamily="18" charset="0"/>
              <a:cs typeface="Times New Roman" panose="02020603050405020304" pitchFamily="18" charset="0"/>
            </a:endParaRPr>
          </a:p>
          <a:p>
            <a:pPr marL="342900" indent="-342900">
              <a:lnSpc>
                <a:spcPts val="1600"/>
              </a:lnSpc>
              <a:buSzPct val="100000"/>
              <a:buChar char="●"/>
            </a:pPr>
            <a:r>
              <a:rPr lang="en-US" sz="1400" dirty="0">
                <a:solidFill>
                  <a:srgbClr val="222436"/>
                </a:solidFill>
                <a:latin typeface="Times New Roman" panose="02020603050405020304" pitchFamily="18" charset="0"/>
                <a:ea typeface="Calibri" pitchFamily="34" charset="-122"/>
                <a:cs typeface="Times New Roman" panose="02020603050405020304" pitchFamily="18" charset="0"/>
              </a:rPr>
              <a:t>Source: ISIC archive images distributed via Kaggle (“Skin Cancer: Malignant vs. Benign”).</a:t>
            </a:r>
            <a:endParaRPr lang="en-US" sz="1400" dirty="0">
              <a:latin typeface="Times New Roman" panose="02020603050405020304" pitchFamily="18" charset="0"/>
              <a:cs typeface="Times New Roman" panose="02020603050405020304" pitchFamily="18" charset="0"/>
            </a:endParaRPr>
          </a:p>
        </p:txBody>
      </p:sp>
      <p:graphicFrame>
        <p:nvGraphicFramePr>
          <p:cNvPr id="7" name="Chart 0"/>
          <p:cNvGraphicFramePr/>
          <p:nvPr>
            <p:extLst>
              <p:ext uri="{D42A27DB-BD31-4B8C-83A1-F6EECF244321}">
                <p14:modId xmlns:p14="http://schemas.microsoft.com/office/powerpoint/2010/main" val="3293492464"/>
              </p:ext>
            </p:extLst>
          </p:nvPr>
        </p:nvGraphicFramePr>
        <p:xfrm>
          <a:off x="7360920" y="1965960"/>
          <a:ext cx="4297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5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03 · DATA PIPELINE</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Preprocessing &amp; Augmentation</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828800"/>
            <a:ext cx="2724912" cy="3566160"/>
          </a:xfrm>
          <a:prstGeom prst="roundRect">
            <a:avLst>
              <a:gd name="adj" fmla="val 3020"/>
            </a:avLst>
          </a:prstGeom>
          <a:solidFill>
            <a:srgbClr val="EEF3FC"/>
          </a:solidFill>
          <a:ln/>
        </p:spPr>
      </p:sp>
      <p:sp>
        <p:nvSpPr>
          <p:cNvPr id="5" name="Shape 3"/>
          <p:cNvSpPr/>
          <p:nvPr/>
        </p:nvSpPr>
        <p:spPr>
          <a:xfrm>
            <a:off x="1618488" y="2084832"/>
            <a:ext cx="585216" cy="585216"/>
          </a:xfrm>
          <a:prstGeom prst="ellipse">
            <a:avLst/>
          </a:prstGeom>
          <a:solidFill>
            <a:srgbClr val="1E2761"/>
          </a:solidFill>
          <a:ln/>
        </p:spPr>
      </p:sp>
      <p:sp>
        <p:nvSpPr>
          <p:cNvPr id="6" name="Text 4"/>
          <p:cNvSpPr/>
          <p:nvPr/>
        </p:nvSpPr>
        <p:spPr>
          <a:xfrm>
            <a:off x="1618488" y="2084832"/>
            <a:ext cx="585216" cy="585216"/>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sz="2200" dirty="0">
              <a:latin typeface="Times New Roman" panose="02020603050405020304" pitchFamily="18" charset="0"/>
              <a:cs typeface="Times New Roman" panose="02020603050405020304" pitchFamily="18" charset="0"/>
            </a:endParaRPr>
          </a:p>
        </p:txBody>
      </p:sp>
      <p:sp>
        <p:nvSpPr>
          <p:cNvPr id="7" name="Text 5"/>
          <p:cNvSpPr/>
          <p:nvPr/>
        </p:nvSpPr>
        <p:spPr>
          <a:xfrm>
            <a:off x="713232" y="2880360"/>
            <a:ext cx="2395728" cy="685800"/>
          </a:xfrm>
          <a:prstGeom prst="rect">
            <a:avLst/>
          </a:prstGeom>
          <a:noFill/>
          <a:ln/>
        </p:spPr>
        <p:txBody>
          <a:bodyPr wrap="square" rtlCol="0" anchor="t"/>
          <a:lstStyle/>
          <a:p>
            <a:pPr marL="0" indent="0" algn="ctr">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Decode &amp; Resize</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749808" y="3611880"/>
            <a:ext cx="2322576" cy="1005840"/>
          </a:xfrm>
          <a:prstGeom prst="rect">
            <a:avLst/>
          </a:prstGeom>
          <a:noFill/>
          <a:ln/>
        </p:spPr>
        <p:txBody>
          <a:bodyPr wrap="square" rtlCol="0" anchor="t"/>
          <a:lstStyle/>
          <a:p>
            <a:pPr marL="0" indent="0" algn="ctr">
              <a:lnSpc>
                <a:spcPts val="1500"/>
              </a:lnSpc>
              <a:buNone/>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Images decoded as RGB and resized to 300×300 px.</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3410712" y="1828800"/>
            <a:ext cx="2724912" cy="3566160"/>
          </a:xfrm>
          <a:prstGeom prst="roundRect">
            <a:avLst>
              <a:gd name="adj" fmla="val 3020"/>
            </a:avLst>
          </a:prstGeom>
          <a:solidFill>
            <a:srgbClr val="EEF3FC"/>
          </a:solidFill>
          <a:ln/>
        </p:spPr>
      </p:sp>
      <p:sp>
        <p:nvSpPr>
          <p:cNvPr id="10" name="Shape 8"/>
          <p:cNvSpPr/>
          <p:nvPr/>
        </p:nvSpPr>
        <p:spPr>
          <a:xfrm>
            <a:off x="4480560" y="2084832"/>
            <a:ext cx="585216" cy="585216"/>
          </a:xfrm>
          <a:prstGeom prst="ellipse">
            <a:avLst/>
          </a:prstGeom>
          <a:solidFill>
            <a:srgbClr val="1E2761"/>
          </a:solidFill>
          <a:ln/>
        </p:spPr>
      </p:sp>
      <p:sp>
        <p:nvSpPr>
          <p:cNvPr id="11" name="Text 9"/>
          <p:cNvSpPr/>
          <p:nvPr/>
        </p:nvSpPr>
        <p:spPr>
          <a:xfrm>
            <a:off x="4480560" y="2084832"/>
            <a:ext cx="585216" cy="585216"/>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sz="2200" dirty="0">
              <a:latin typeface="Times New Roman" panose="02020603050405020304" pitchFamily="18" charset="0"/>
              <a:cs typeface="Times New Roman" panose="02020603050405020304" pitchFamily="18" charset="0"/>
            </a:endParaRPr>
          </a:p>
        </p:txBody>
      </p:sp>
      <p:sp>
        <p:nvSpPr>
          <p:cNvPr id="12" name="Text 10"/>
          <p:cNvSpPr/>
          <p:nvPr/>
        </p:nvSpPr>
        <p:spPr>
          <a:xfrm>
            <a:off x="3575304" y="2880360"/>
            <a:ext cx="2520696" cy="548640"/>
          </a:xfrm>
          <a:prstGeom prst="rect">
            <a:avLst/>
          </a:prstGeom>
          <a:noFill/>
          <a:ln/>
        </p:spPr>
        <p:txBody>
          <a:bodyPr wrap="square" rtlCol="0" anchor="t"/>
          <a:lstStyle/>
          <a:p>
            <a:r>
              <a:rPr lang="en-US" sz="1400" b="1" dirty="0">
                <a:solidFill>
                  <a:schemeClr val="accent1">
                    <a:lumMod val="50000"/>
                  </a:schemeClr>
                </a:solidFill>
                <a:latin typeface="Times New Roman" panose="02020603050405020304" pitchFamily="18" charset="0"/>
                <a:cs typeface="Times New Roman" panose="02020603050405020304" pitchFamily="18" charset="0"/>
              </a:rPr>
              <a:t>Model-Specific Preprocessing</a:t>
            </a:r>
            <a:endParaRPr lang="en-US" sz="14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3" name="Text 11"/>
          <p:cNvSpPr/>
          <p:nvPr/>
        </p:nvSpPr>
        <p:spPr>
          <a:xfrm>
            <a:off x="3611880" y="3611880"/>
            <a:ext cx="2322576" cy="1005840"/>
          </a:xfrm>
          <a:prstGeom prst="rect">
            <a:avLst/>
          </a:prstGeom>
          <a:noFill/>
          <a:ln/>
        </p:spPr>
        <p:txBody>
          <a:bodyPr wrap="square" rtlCol="0" anchor="t"/>
          <a:lstStyle/>
          <a:p>
            <a:pPr algn="ctr">
              <a:lnSpc>
                <a:spcPts val="1500"/>
              </a:lnSpc>
            </a:pPr>
            <a:r>
              <a:rPr lang="en-US" sz="1300" dirty="0">
                <a:latin typeface="Times New Roman" panose="02020603050405020304" pitchFamily="18" charset="0"/>
                <a:cs typeface="Times New Roman" panose="02020603050405020304" pitchFamily="18" charset="0"/>
              </a:rPr>
              <a:t>Each image is passed through the native preprocessing function of the selected CNN backbone.</a:t>
            </a:r>
          </a:p>
        </p:txBody>
      </p:sp>
      <p:sp>
        <p:nvSpPr>
          <p:cNvPr id="14" name="Shape 12"/>
          <p:cNvSpPr/>
          <p:nvPr/>
        </p:nvSpPr>
        <p:spPr>
          <a:xfrm>
            <a:off x="6272784" y="1828800"/>
            <a:ext cx="2724912" cy="3566160"/>
          </a:xfrm>
          <a:prstGeom prst="roundRect">
            <a:avLst>
              <a:gd name="adj" fmla="val 3020"/>
            </a:avLst>
          </a:prstGeom>
          <a:solidFill>
            <a:srgbClr val="CADCFC"/>
          </a:solidFill>
          <a:ln/>
        </p:spPr>
      </p:sp>
      <p:sp>
        <p:nvSpPr>
          <p:cNvPr id="15" name="Shape 13"/>
          <p:cNvSpPr/>
          <p:nvPr/>
        </p:nvSpPr>
        <p:spPr>
          <a:xfrm>
            <a:off x="7342632" y="2084832"/>
            <a:ext cx="585216" cy="585216"/>
          </a:xfrm>
          <a:prstGeom prst="ellipse">
            <a:avLst/>
          </a:prstGeom>
          <a:solidFill>
            <a:srgbClr val="1E2761"/>
          </a:solidFill>
          <a:ln/>
        </p:spPr>
      </p:sp>
      <p:sp>
        <p:nvSpPr>
          <p:cNvPr id="16" name="Text 14"/>
          <p:cNvSpPr/>
          <p:nvPr/>
        </p:nvSpPr>
        <p:spPr>
          <a:xfrm>
            <a:off x="7342632" y="2084832"/>
            <a:ext cx="585216" cy="585216"/>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sz="2200" dirty="0">
              <a:latin typeface="Times New Roman" panose="02020603050405020304" pitchFamily="18" charset="0"/>
              <a:cs typeface="Times New Roman" panose="02020603050405020304" pitchFamily="18" charset="0"/>
            </a:endParaRPr>
          </a:p>
        </p:txBody>
      </p:sp>
      <p:sp>
        <p:nvSpPr>
          <p:cNvPr id="17" name="Text 15"/>
          <p:cNvSpPr/>
          <p:nvPr/>
        </p:nvSpPr>
        <p:spPr>
          <a:xfrm>
            <a:off x="6437376" y="2880360"/>
            <a:ext cx="2395728" cy="685800"/>
          </a:xfrm>
          <a:prstGeom prst="rect">
            <a:avLst/>
          </a:prstGeom>
          <a:noFill/>
          <a:ln/>
        </p:spPr>
        <p:txBody>
          <a:bodyPr wrap="square" rtlCol="0" anchor="t"/>
          <a:lstStyle/>
          <a:p>
            <a:pPr marL="0" indent="0" algn="ctr">
              <a:buNone/>
            </a:pPr>
            <a:r>
              <a:rPr lang="en-US" sz="1400" b="1" dirty="0">
                <a:solidFill>
                  <a:srgbClr val="1E2761"/>
                </a:solidFill>
                <a:latin typeface="Times New Roman" panose="02020603050405020304" pitchFamily="18" charset="0"/>
                <a:ea typeface="Calibri" pitchFamily="34" charset="-122"/>
                <a:cs typeface="Times New Roman" panose="02020603050405020304" pitchFamily="18" charset="0"/>
              </a:rPr>
              <a:t>Train-Only Augmentation</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6473952" y="3611880"/>
            <a:ext cx="2322576" cy="1005840"/>
          </a:xfrm>
          <a:prstGeom prst="rect">
            <a:avLst/>
          </a:prstGeom>
          <a:noFill/>
          <a:ln/>
        </p:spPr>
        <p:txBody>
          <a:bodyPr wrap="square" rtlCol="0" anchor="t"/>
          <a:lstStyle/>
          <a:p>
            <a:pPr marL="0" indent="0" algn="ctr">
              <a:lnSpc>
                <a:spcPts val="1500"/>
              </a:lnSpc>
              <a:buNone/>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Random horizontal and vertical flips applied only to the training split.</a:t>
            </a:r>
            <a:endParaRPr lang="en-US" sz="1300" dirty="0">
              <a:latin typeface="Times New Roman" panose="02020603050405020304" pitchFamily="18" charset="0"/>
              <a:cs typeface="Times New Roman" panose="02020603050405020304" pitchFamily="18" charset="0"/>
            </a:endParaRPr>
          </a:p>
        </p:txBody>
      </p:sp>
      <p:sp>
        <p:nvSpPr>
          <p:cNvPr id="19" name="Shape 17"/>
          <p:cNvSpPr/>
          <p:nvPr/>
        </p:nvSpPr>
        <p:spPr>
          <a:xfrm>
            <a:off x="9134856" y="1828800"/>
            <a:ext cx="2724912" cy="3566160"/>
          </a:xfrm>
          <a:prstGeom prst="roundRect">
            <a:avLst>
              <a:gd name="adj" fmla="val 3020"/>
            </a:avLst>
          </a:prstGeom>
          <a:solidFill>
            <a:srgbClr val="EEF3FC"/>
          </a:solidFill>
          <a:ln/>
        </p:spPr>
      </p:sp>
      <p:sp>
        <p:nvSpPr>
          <p:cNvPr id="20" name="Shape 18"/>
          <p:cNvSpPr/>
          <p:nvPr/>
        </p:nvSpPr>
        <p:spPr>
          <a:xfrm>
            <a:off x="10204704" y="2084832"/>
            <a:ext cx="585216" cy="585216"/>
          </a:xfrm>
          <a:prstGeom prst="ellipse">
            <a:avLst/>
          </a:prstGeom>
          <a:solidFill>
            <a:srgbClr val="1E2761"/>
          </a:solidFill>
          <a:ln/>
        </p:spPr>
      </p:sp>
      <p:sp>
        <p:nvSpPr>
          <p:cNvPr id="21" name="Text 19"/>
          <p:cNvSpPr/>
          <p:nvPr/>
        </p:nvSpPr>
        <p:spPr>
          <a:xfrm>
            <a:off x="10204704" y="2084832"/>
            <a:ext cx="585216" cy="585216"/>
          </a:xfrm>
          <a:prstGeom prst="rect">
            <a:avLst/>
          </a:prstGeom>
          <a:noFill/>
          <a:ln/>
        </p:spPr>
        <p:txBody>
          <a:bodyPr wrap="square" rtlCol="0" anchor="ctr"/>
          <a:lstStyle/>
          <a:p>
            <a:pPr marL="0" indent="0" algn="ctr">
              <a:buNone/>
            </a:pPr>
            <a:r>
              <a:rPr lang="en-US" sz="2200" b="1" dirty="0">
                <a:solidFill>
                  <a:srgbClr val="FFFFFF"/>
                </a:solidFill>
                <a:latin typeface="Times New Roman" panose="02020603050405020304" pitchFamily="18" charset="0"/>
                <a:ea typeface="Cambria" pitchFamily="34" charset="-122"/>
                <a:cs typeface="Times New Roman" panose="02020603050405020304" pitchFamily="18" charset="0"/>
              </a:rPr>
              <a:t>4</a:t>
            </a:r>
            <a:endParaRPr lang="en-US" sz="2200" dirty="0">
              <a:latin typeface="Times New Roman" panose="02020603050405020304" pitchFamily="18" charset="0"/>
              <a:cs typeface="Times New Roman" panose="02020603050405020304" pitchFamily="18" charset="0"/>
            </a:endParaRPr>
          </a:p>
        </p:txBody>
      </p:sp>
      <p:sp>
        <p:nvSpPr>
          <p:cNvPr id="22" name="Text 20"/>
          <p:cNvSpPr/>
          <p:nvPr/>
        </p:nvSpPr>
        <p:spPr>
          <a:xfrm>
            <a:off x="9299448" y="2880360"/>
            <a:ext cx="2395728" cy="685800"/>
          </a:xfrm>
          <a:prstGeom prst="rect">
            <a:avLst/>
          </a:prstGeom>
          <a:noFill/>
          <a:ln/>
        </p:spPr>
        <p:txBody>
          <a:bodyPr wrap="square" rtlCol="0" anchor="t"/>
          <a:lstStyle/>
          <a:p>
            <a:pPr algn="ctr"/>
            <a:r>
              <a:rPr lang="en-US" sz="1400" b="1" dirty="0">
                <a:solidFill>
                  <a:schemeClr val="accent1">
                    <a:lumMod val="50000"/>
                  </a:schemeClr>
                </a:solidFill>
                <a:latin typeface="Times New Roman" panose="02020603050405020304" pitchFamily="18" charset="0"/>
                <a:cs typeface="Times New Roman" panose="02020603050405020304" pitchFamily="18" charset="0"/>
              </a:rPr>
              <a:t>Efficient Loading</a:t>
            </a:r>
          </a:p>
        </p:txBody>
      </p:sp>
      <p:sp>
        <p:nvSpPr>
          <p:cNvPr id="23" name="Text 21"/>
          <p:cNvSpPr/>
          <p:nvPr/>
        </p:nvSpPr>
        <p:spPr>
          <a:xfrm>
            <a:off x="9336024" y="3611880"/>
            <a:ext cx="2395728" cy="1106424"/>
          </a:xfrm>
          <a:prstGeom prst="rect">
            <a:avLst/>
          </a:prstGeom>
          <a:noFill/>
          <a:ln/>
        </p:spPr>
        <p:txBody>
          <a:bodyPr wrap="square" rtlCol="0" anchor="t"/>
          <a:lstStyle/>
          <a:p>
            <a:pPr algn="ctr"/>
            <a:r>
              <a:rPr lang="en-US" sz="1300" dirty="0" err="1">
                <a:latin typeface="Times New Roman" panose="02020603050405020304" pitchFamily="18" charset="0"/>
                <a:cs typeface="Times New Roman" panose="02020603050405020304" pitchFamily="18" charset="0"/>
              </a:rPr>
              <a:t>tf.data</a:t>
            </a:r>
            <a:r>
              <a:rPr lang="en-US" sz="1300" dirty="0">
                <a:latin typeface="Times New Roman" panose="02020603050405020304" pitchFamily="18" charset="0"/>
                <a:cs typeface="Times New Roman" panose="02020603050405020304" pitchFamily="18" charset="0"/>
              </a:rPr>
              <a:t> pipeline with training-only shuffling, parallel mapping, batch size 32, and AUTOTUNE prefetch.</a:t>
            </a:r>
          </a:p>
        </p:txBody>
      </p:sp>
      <p:sp>
        <p:nvSpPr>
          <p:cNvPr id="25" name="Text 2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6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04 · METHODOLOGY</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End-to-End Framework Overview</a:t>
            </a:r>
            <a:endParaRPr lang="en-US" sz="3000" dirty="0">
              <a:latin typeface="Times New Roman" panose="02020603050405020304" pitchFamily="18" charset="0"/>
              <a:cs typeface="Times New Roman" panose="02020603050405020304" pitchFamily="18" charset="0"/>
            </a:endParaRPr>
          </a:p>
        </p:txBody>
      </p:sp>
      <p:sp>
        <p:nvSpPr>
          <p:cNvPr id="25" name="Text 2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7 / 20</a:t>
            </a:r>
            <a:endParaRPr lang="en-US" sz="900" dirty="0">
              <a:latin typeface="Times New Roman" panose="02020603050405020304" pitchFamily="18" charset="0"/>
              <a:cs typeface="Times New Roman" panose="02020603050405020304" pitchFamily="18" charset="0"/>
            </a:endParaRPr>
          </a:p>
        </p:txBody>
      </p:sp>
      <p:pic>
        <p:nvPicPr>
          <p:cNvPr id="31" name="Picture 30">
            <a:extLst>
              <a:ext uri="{FF2B5EF4-FFF2-40B4-BE49-F238E27FC236}">
                <a16:creationId xmlns:a16="http://schemas.microsoft.com/office/drawing/2014/main" id="{174FA393-8E8E-A6EB-02FA-7A2A6905E142}"/>
              </a:ext>
            </a:extLst>
          </p:cNvPr>
          <p:cNvPicPr>
            <a:picLocks noChangeAspect="1"/>
          </p:cNvPicPr>
          <p:nvPr/>
        </p:nvPicPr>
        <p:blipFill>
          <a:blip r:embed="rId3"/>
          <a:stretch>
            <a:fillRect/>
          </a:stretch>
        </p:blipFill>
        <p:spPr>
          <a:xfrm>
            <a:off x="1082947" y="1274003"/>
            <a:ext cx="9302024" cy="55291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05 · BACKBONE SCREENING</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Comparing Four Pretrained CNN Architectures</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548639" y="1570995"/>
            <a:ext cx="2377207" cy="2591111"/>
          </a:xfrm>
          <a:prstGeom prst="roundRect">
            <a:avLst>
              <a:gd name="adj" fmla="val 3020"/>
            </a:avLst>
          </a:prstGeom>
          <a:solidFill>
            <a:srgbClr val="1E2761"/>
          </a:solidFill>
          <a:ln/>
        </p:spPr>
      </p:sp>
      <p:sp>
        <p:nvSpPr>
          <p:cNvPr id="5" name="Shape 3"/>
          <p:cNvSpPr/>
          <p:nvPr/>
        </p:nvSpPr>
        <p:spPr>
          <a:xfrm>
            <a:off x="1595955" y="1636123"/>
            <a:ext cx="1280160" cy="320040"/>
          </a:xfrm>
          <a:prstGeom prst="roundRect">
            <a:avLst>
              <a:gd name="adj" fmla="val 48571"/>
            </a:avLst>
          </a:prstGeom>
          <a:solidFill>
            <a:srgbClr val="02809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1645686" y="1615969"/>
            <a:ext cx="1280160" cy="320040"/>
          </a:xfrm>
          <a:prstGeom prst="rect">
            <a:avLst/>
          </a:prstGeom>
          <a:noFill/>
          <a:ln/>
        </p:spPr>
        <p:txBody>
          <a:bodyPr wrap="square"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BEST</a:t>
            </a:r>
            <a:endParaRPr lang="en-US" sz="1100" dirty="0">
              <a:latin typeface="Times New Roman" panose="02020603050405020304" pitchFamily="18" charset="0"/>
              <a:cs typeface="Times New Roman" panose="02020603050405020304" pitchFamily="18" charset="0"/>
            </a:endParaRPr>
          </a:p>
        </p:txBody>
      </p:sp>
      <p:sp>
        <p:nvSpPr>
          <p:cNvPr id="7" name="Text 5"/>
          <p:cNvSpPr/>
          <p:nvPr/>
        </p:nvSpPr>
        <p:spPr>
          <a:xfrm>
            <a:off x="637560" y="1886463"/>
            <a:ext cx="2322576" cy="457200"/>
          </a:xfrm>
          <a:prstGeom prst="rect">
            <a:avLst/>
          </a:prstGeom>
          <a:noFill/>
          <a:ln/>
        </p:spPr>
        <p:txBody>
          <a:bodyPr wrap="square" rtlCol="0" anchor="ctr"/>
          <a:lstStyle/>
          <a:p>
            <a:pPr marL="0" indent="0">
              <a:buNone/>
            </a:pPr>
            <a:r>
              <a:rPr lang="en-US" sz="1700" b="1" dirty="0">
                <a:solidFill>
                  <a:srgbClr val="FFFFFF"/>
                </a:solidFill>
                <a:latin typeface="Times New Roman" panose="02020603050405020304" pitchFamily="18" charset="0"/>
                <a:ea typeface="Cambria" pitchFamily="34" charset="-122"/>
                <a:cs typeface="Times New Roman" panose="02020603050405020304" pitchFamily="18" charset="0"/>
              </a:rPr>
              <a:t>ResNet50</a:t>
            </a:r>
            <a:endParaRPr lang="en-US" sz="1700" dirty="0">
              <a:latin typeface="Times New Roman" panose="02020603050405020304" pitchFamily="18" charset="0"/>
              <a:cs typeface="Times New Roman" panose="02020603050405020304" pitchFamily="18" charset="0"/>
            </a:endParaRPr>
          </a:p>
        </p:txBody>
      </p:sp>
      <p:sp>
        <p:nvSpPr>
          <p:cNvPr id="8" name="Text 6"/>
          <p:cNvSpPr/>
          <p:nvPr/>
        </p:nvSpPr>
        <p:spPr>
          <a:xfrm>
            <a:off x="620415" y="2383878"/>
            <a:ext cx="2322576" cy="731520"/>
          </a:xfrm>
          <a:prstGeom prst="rect">
            <a:avLst/>
          </a:prstGeom>
          <a:noFill/>
          <a:ln/>
        </p:spPr>
        <p:txBody>
          <a:bodyPr wrap="square" rtlCol="0" anchor="ctr"/>
          <a:lstStyle/>
          <a:p>
            <a:pPr marL="0" indent="0">
              <a:lnSpc>
                <a:spcPts val="1500"/>
              </a:lnSpc>
              <a:buNone/>
            </a:pPr>
            <a:r>
              <a:rPr lang="en-US" sz="1150" dirty="0">
                <a:solidFill>
                  <a:srgbClr val="CADCFC"/>
                </a:solidFill>
                <a:latin typeface="Times New Roman" panose="02020603050405020304" pitchFamily="18" charset="0"/>
                <a:ea typeface="Calibri" pitchFamily="34" charset="-122"/>
                <a:cs typeface="Times New Roman" panose="02020603050405020304" pitchFamily="18" charset="0"/>
              </a:rPr>
              <a:t>Residual connections ease optimization of deep networks.</a:t>
            </a:r>
            <a:endParaRPr lang="en-US" sz="1150" dirty="0">
              <a:latin typeface="Times New Roman" panose="02020603050405020304" pitchFamily="18" charset="0"/>
              <a:cs typeface="Times New Roman" panose="02020603050405020304" pitchFamily="18" charset="0"/>
            </a:endParaRPr>
          </a:p>
        </p:txBody>
      </p:sp>
      <p:sp>
        <p:nvSpPr>
          <p:cNvPr id="9" name="Text 7"/>
          <p:cNvSpPr/>
          <p:nvPr/>
        </p:nvSpPr>
        <p:spPr>
          <a:xfrm>
            <a:off x="680901" y="3317126"/>
            <a:ext cx="1965400" cy="374904"/>
          </a:xfrm>
          <a:prstGeom prst="rect">
            <a:avLst/>
          </a:prstGeom>
          <a:noFill/>
          <a:ln/>
        </p:spPr>
        <p:txBody>
          <a:bodyPr wrap="square" rtlCol="0" anchor="ctr"/>
          <a:lstStyle/>
          <a:p>
            <a:pPr marL="0" indent="0">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88.48%</a:t>
            </a:r>
            <a:endParaRPr lang="en-US" sz="2600" dirty="0">
              <a:latin typeface="Times New Roman" panose="02020603050405020304" pitchFamily="18" charset="0"/>
              <a:cs typeface="Times New Roman" panose="02020603050405020304" pitchFamily="18" charset="0"/>
            </a:endParaRPr>
          </a:p>
        </p:txBody>
      </p:sp>
      <p:sp>
        <p:nvSpPr>
          <p:cNvPr id="10" name="Text 8"/>
          <p:cNvSpPr/>
          <p:nvPr/>
        </p:nvSpPr>
        <p:spPr>
          <a:xfrm>
            <a:off x="740430" y="3774699"/>
            <a:ext cx="2322576" cy="274320"/>
          </a:xfrm>
          <a:prstGeom prst="rect">
            <a:avLst/>
          </a:prstGeom>
          <a:noFill/>
          <a:ln/>
        </p:spPr>
        <p:txBody>
          <a:bodyPr wrap="square" rtlCol="0" anchor="ctr"/>
          <a:lstStyle/>
          <a:p>
            <a:pPr marL="0" indent="0">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Baseline Test Accuracy</a:t>
            </a:r>
            <a:endParaRPr lang="en-US" sz="1000" dirty="0">
              <a:latin typeface="Times New Roman" panose="02020603050405020304" pitchFamily="18" charset="0"/>
              <a:cs typeface="Times New Roman" panose="02020603050405020304" pitchFamily="18" charset="0"/>
            </a:endParaRPr>
          </a:p>
        </p:txBody>
      </p:sp>
      <p:sp>
        <p:nvSpPr>
          <p:cNvPr id="11" name="Shape 9"/>
          <p:cNvSpPr/>
          <p:nvPr/>
        </p:nvSpPr>
        <p:spPr>
          <a:xfrm>
            <a:off x="3419436" y="1566423"/>
            <a:ext cx="2198666" cy="2595683"/>
          </a:xfrm>
          <a:prstGeom prst="roundRect">
            <a:avLst>
              <a:gd name="adj" fmla="val 3020"/>
            </a:avLst>
          </a:prstGeom>
          <a:solidFill>
            <a:srgbClr val="EEF3FC"/>
          </a:solidFill>
          <a:ln/>
        </p:spPr>
      </p:sp>
      <p:sp>
        <p:nvSpPr>
          <p:cNvPr id="12" name="Text 10"/>
          <p:cNvSpPr/>
          <p:nvPr/>
        </p:nvSpPr>
        <p:spPr>
          <a:xfrm>
            <a:off x="3620604" y="1840743"/>
            <a:ext cx="2295110" cy="436984"/>
          </a:xfrm>
          <a:prstGeom prst="rect">
            <a:avLst/>
          </a:prstGeom>
          <a:noFill/>
          <a:ln/>
        </p:spPr>
        <p:txBody>
          <a:bodyPr wrap="square" rtlCol="0" anchor="ctr"/>
          <a:lstStyle/>
          <a:p>
            <a:pPr marL="0" indent="0">
              <a:buNone/>
            </a:pPr>
            <a:r>
              <a:rPr lang="en-US" sz="1700" b="1" dirty="0">
                <a:solidFill>
                  <a:srgbClr val="1E2761"/>
                </a:solidFill>
                <a:latin typeface="Times New Roman" panose="02020603050405020304" pitchFamily="18" charset="0"/>
                <a:ea typeface="Cambria" pitchFamily="34" charset="-122"/>
                <a:cs typeface="Times New Roman" panose="02020603050405020304" pitchFamily="18" charset="0"/>
              </a:rPr>
              <a:t>DenseNet121</a:t>
            </a:r>
            <a:endParaRPr lang="en-US" sz="1700" dirty="0">
              <a:latin typeface="Times New Roman" panose="02020603050405020304" pitchFamily="18" charset="0"/>
              <a:cs typeface="Times New Roman" panose="02020603050405020304" pitchFamily="18" charset="0"/>
            </a:endParaRPr>
          </a:p>
        </p:txBody>
      </p:sp>
      <p:sp>
        <p:nvSpPr>
          <p:cNvPr id="13" name="Text 11"/>
          <p:cNvSpPr/>
          <p:nvPr/>
        </p:nvSpPr>
        <p:spPr>
          <a:xfrm>
            <a:off x="3620604" y="2343663"/>
            <a:ext cx="1926115" cy="681695"/>
          </a:xfrm>
          <a:prstGeom prst="rect">
            <a:avLst/>
          </a:prstGeom>
          <a:noFill/>
          <a:ln/>
        </p:spPr>
        <p:txBody>
          <a:bodyPr wrap="square" rtlCol="0" anchor="ctr"/>
          <a:lstStyle/>
          <a:p>
            <a:pPr marL="0" indent="0">
              <a:lnSpc>
                <a:spcPts val="1500"/>
              </a:lnSpc>
              <a:buNone/>
            </a:pPr>
            <a:r>
              <a:rPr lang="en-US" sz="1150" dirty="0">
                <a:solidFill>
                  <a:srgbClr val="222436"/>
                </a:solidFill>
                <a:latin typeface="Times New Roman" panose="02020603050405020304" pitchFamily="18" charset="0"/>
                <a:ea typeface="Calibri" pitchFamily="34" charset="-122"/>
                <a:cs typeface="Times New Roman" panose="02020603050405020304" pitchFamily="18" charset="0"/>
              </a:rPr>
              <a:t>Dense connectivity promotes feature reuse across layers.</a:t>
            </a:r>
            <a:endParaRPr lang="en-US" sz="1150" dirty="0">
              <a:latin typeface="Times New Roman" panose="02020603050405020304" pitchFamily="18" charset="0"/>
              <a:cs typeface="Times New Roman" panose="02020603050405020304" pitchFamily="18" charset="0"/>
            </a:endParaRPr>
          </a:p>
        </p:txBody>
      </p:sp>
      <p:sp>
        <p:nvSpPr>
          <p:cNvPr id="14" name="Text 12"/>
          <p:cNvSpPr/>
          <p:nvPr/>
        </p:nvSpPr>
        <p:spPr>
          <a:xfrm>
            <a:off x="3521606" y="3189483"/>
            <a:ext cx="1695608" cy="498161"/>
          </a:xfrm>
          <a:prstGeom prst="rect">
            <a:avLst/>
          </a:prstGeom>
          <a:noFill/>
          <a:ln/>
        </p:spPr>
        <p:txBody>
          <a:bodyPr wrap="square" rtlCol="0" anchor="ctr"/>
          <a:lstStyle/>
          <a:p>
            <a:pPr marL="0" indent="0">
              <a:buNone/>
            </a:pPr>
            <a:r>
              <a:rPr lang="en-US" sz="2600" b="1" dirty="0">
                <a:solidFill>
                  <a:srgbClr val="015F6B"/>
                </a:solidFill>
                <a:latin typeface="Times New Roman" panose="02020603050405020304" pitchFamily="18" charset="0"/>
                <a:ea typeface="Cambria" pitchFamily="34" charset="-122"/>
                <a:cs typeface="Times New Roman" panose="02020603050405020304" pitchFamily="18" charset="0"/>
              </a:rPr>
              <a:t>81.21%</a:t>
            </a:r>
            <a:endParaRPr lang="en-US" sz="2600" dirty="0">
              <a:latin typeface="Times New Roman" panose="02020603050405020304" pitchFamily="18" charset="0"/>
              <a:cs typeface="Times New Roman" panose="02020603050405020304" pitchFamily="18" charset="0"/>
            </a:endParaRPr>
          </a:p>
        </p:txBody>
      </p:sp>
      <p:sp>
        <p:nvSpPr>
          <p:cNvPr id="15" name="Text 13"/>
          <p:cNvSpPr/>
          <p:nvPr/>
        </p:nvSpPr>
        <p:spPr>
          <a:xfrm>
            <a:off x="3556596" y="3779271"/>
            <a:ext cx="2295110" cy="262190"/>
          </a:xfrm>
          <a:prstGeom prst="rect">
            <a:avLst/>
          </a:prstGeom>
          <a:noFill/>
          <a:ln/>
        </p:spPr>
        <p:txBody>
          <a:bodyPr wrap="square" rtlCol="0" anchor="ctr"/>
          <a:lstStyle/>
          <a:p>
            <a:pPr marL="0" indent="0">
              <a:buNone/>
            </a:pPr>
            <a:r>
              <a:rPr lang="en-US" sz="1000" dirty="0">
                <a:solidFill>
                  <a:srgbClr val="6B6E85"/>
                </a:solidFill>
                <a:latin typeface="Times New Roman" panose="02020603050405020304" pitchFamily="18" charset="0"/>
                <a:ea typeface="Calibri" pitchFamily="34" charset="-122"/>
                <a:cs typeface="Times New Roman" panose="02020603050405020304" pitchFamily="18" charset="0"/>
              </a:rPr>
              <a:t>Baseline Test Accuracy</a:t>
            </a:r>
            <a:endParaRPr lang="en-US" sz="1000" dirty="0">
              <a:latin typeface="Times New Roman" panose="02020603050405020304" pitchFamily="18" charset="0"/>
              <a:cs typeface="Times New Roman" panose="02020603050405020304" pitchFamily="18" charset="0"/>
            </a:endParaRPr>
          </a:p>
        </p:txBody>
      </p:sp>
      <p:sp>
        <p:nvSpPr>
          <p:cNvPr id="16" name="Shape 14"/>
          <p:cNvSpPr/>
          <p:nvPr/>
        </p:nvSpPr>
        <p:spPr>
          <a:xfrm>
            <a:off x="6161423" y="1570995"/>
            <a:ext cx="2455164" cy="2591111"/>
          </a:xfrm>
          <a:prstGeom prst="roundRect">
            <a:avLst>
              <a:gd name="adj" fmla="val 3020"/>
            </a:avLst>
          </a:prstGeom>
          <a:solidFill>
            <a:srgbClr val="EEF3FC"/>
          </a:solidFill>
          <a:ln/>
        </p:spPr>
      </p:sp>
      <p:sp>
        <p:nvSpPr>
          <p:cNvPr id="17" name="Text 15"/>
          <p:cNvSpPr/>
          <p:nvPr/>
        </p:nvSpPr>
        <p:spPr>
          <a:xfrm>
            <a:off x="6362591" y="1845315"/>
            <a:ext cx="1830106" cy="457200"/>
          </a:xfrm>
          <a:prstGeom prst="rect">
            <a:avLst/>
          </a:prstGeom>
          <a:noFill/>
          <a:ln/>
        </p:spPr>
        <p:txBody>
          <a:bodyPr wrap="square" rtlCol="0" anchor="ctr"/>
          <a:lstStyle/>
          <a:p>
            <a:pPr marL="0" indent="0">
              <a:buNone/>
            </a:pPr>
            <a:r>
              <a:rPr lang="en-US" sz="1700" b="1" dirty="0">
                <a:solidFill>
                  <a:srgbClr val="1E2761"/>
                </a:solidFill>
                <a:latin typeface="Times New Roman" panose="02020603050405020304" pitchFamily="18" charset="0"/>
                <a:ea typeface="Cambria" pitchFamily="34" charset="-122"/>
                <a:cs typeface="Times New Roman" panose="02020603050405020304" pitchFamily="18" charset="0"/>
              </a:rPr>
              <a:t>MobileNetV2</a:t>
            </a:r>
            <a:endParaRPr lang="en-US" sz="1700" dirty="0">
              <a:latin typeface="Times New Roman" panose="02020603050405020304" pitchFamily="18" charset="0"/>
              <a:cs typeface="Times New Roman" panose="02020603050405020304" pitchFamily="18" charset="0"/>
            </a:endParaRPr>
          </a:p>
        </p:txBody>
      </p:sp>
      <p:sp>
        <p:nvSpPr>
          <p:cNvPr id="18" name="Text 16"/>
          <p:cNvSpPr/>
          <p:nvPr/>
        </p:nvSpPr>
        <p:spPr>
          <a:xfrm>
            <a:off x="6362591" y="2348235"/>
            <a:ext cx="2322576" cy="1051560"/>
          </a:xfrm>
          <a:prstGeom prst="rect">
            <a:avLst/>
          </a:prstGeom>
          <a:noFill/>
          <a:ln/>
        </p:spPr>
        <p:txBody>
          <a:bodyPr wrap="square" rtlCol="0" anchor="ctr"/>
          <a:lstStyle/>
          <a:p>
            <a:pPr marL="0" indent="0">
              <a:lnSpc>
                <a:spcPts val="1500"/>
              </a:lnSpc>
              <a:buNone/>
            </a:pPr>
            <a:r>
              <a:rPr lang="en-US" sz="1150" dirty="0">
                <a:solidFill>
                  <a:srgbClr val="222436"/>
                </a:solidFill>
                <a:latin typeface="Times New Roman" panose="02020603050405020304" pitchFamily="18" charset="0"/>
                <a:ea typeface="Calibri" pitchFamily="34" charset="-122"/>
                <a:cs typeface="Times New Roman" panose="02020603050405020304" pitchFamily="18" charset="0"/>
              </a:rPr>
              <a:t>Lightweight inverted residuals &amp; linear bottlenecks.</a:t>
            </a:r>
            <a:endParaRPr lang="en-US" sz="1150" dirty="0">
              <a:latin typeface="Times New Roman" panose="02020603050405020304" pitchFamily="18" charset="0"/>
              <a:cs typeface="Times New Roman" panose="02020603050405020304" pitchFamily="18" charset="0"/>
            </a:endParaRPr>
          </a:p>
        </p:txBody>
      </p:sp>
      <p:sp>
        <p:nvSpPr>
          <p:cNvPr id="19" name="Text 17"/>
          <p:cNvSpPr/>
          <p:nvPr/>
        </p:nvSpPr>
        <p:spPr>
          <a:xfrm>
            <a:off x="6227717" y="3216915"/>
            <a:ext cx="1871861" cy="548640"/>
          </a:xfrm>
          <a:prstGeom prst="rect">
            <a:avLst/>
          </a:prstGeom>
          <a:noFill/>
          <a:ln/>
        </p:spPr>
        <p:txBody>
          <a:bodyPr wrap="square" rtlCol="0" anchor="ctr"/>
          <a:lstStyle/>
          <a:p>
            <a:pPr marL="0" indent="0">
              <a:buNone/>
            </a:pPr>
            <a:r>
              <a:rPr lang="en-US" sz="2600" b="1" dirty="0">
                <a:solidFill>
                  <a:srgbClr val="015F6B"/>
                </a:solidFill>
                <a:latin typeface="Times New Roman" panose="02020603050405020304" pitchFamily="18" charset="0"/>
                <a:ea typeface="Cambria" pitchFamily="34" charset="-122"/>
                <a:cs typeface="Times New Roman" panose="02020603050405020304" pitchFamily="18" charset="0"/>
              </a:rPr>
              <a:t>84.85%</a:t>
            </a:r>
            <a:endParaRPr lang="en-US" sz="2600" dirty="0">
              <a:latin typeface="Times New Roman" panose="02020603050405020304" pitchFamily="18" charset="0"/>
              <a:cs typeface="Times New Roman" panose="02020603050405020304" pitchFamily="18" charset="0"/>
            </a:endParaRPr>
          </a:p>
        </p:txBody>
      </p:sp>
      <p:sp>
        <p:nvSpPr>
          <p:cNvPr id="20" name="Text 18"/>
          <p:cNvSpPr/>
          <p:nvPr/>
        </p:nvSpPr>
        <p:spPr>
          <a:xfrm>
            <a:off x="6248851" y="3774699"/>
            <a:ext cx="1736987" cy="237744"/>
          </a:xfrm>
          <a:prstGeom prst="rect">
            <a:avLst/>
          </a:prstGeom>
          <a:noFill/>
          <a:ln/>
        </p:spPr>
        <p:txBody>
          <a:bodyPr wrap="square" rtlCol="0" anchor="ctr"/>
          <a:lstStyle/>
          <a:p>
            <a:pPr marL="0" indent="0">
              <a:buNone/>
            </a:pPr>
            <a:r>
              <a:rPr lang="en-US" sz="1000" dirty="0">
                <a:solidFill>
                  <a:srgbClr val="6B6E85"/>
                </a:solidFill>
                <a:latin typeface="Times New Roman" panose="02020603050405020304" pitchFamily="18" charset="0"/>
                <a:ea typeface="Calibri" pitchFamily="34" charset="-122"/>
                <a:cs typeface="Times New Roman" panose="02020603050405020304" pitchFamily="18" charset="0"/>
              </a:rPr>
              <a:t>Baseline Test Accuracy</a:t>
            </a:r>
            <a:endParaRPr lang="en-US" sz="1000" dirty="0">
              <a:latin typeface="Times New Roman" panose="02020603050405020304" pitchFamily="18" charset="0"/>
              <a:cs typeface="Times New Roman" panose="02020603050405020304" pitchFamily="18" charset="0"/>
            </a:endParaRPr>
          </a:p>
        </p:txBody>
      </p:sp>
      <p:sp>
        <p:nvSpPr>
          <p:cNvPr id="21" name="Shape 19"/>
          <p:cNvSpPr/>
          <p:nvPr/>
        </p:nvSpPr>
        <p:spPr>
          <a:xfrm>
            <a:off x="9099695" y="1570995"/>
            <a:ext cx="2279904" cy="2591111"/>
          </a:xfrm>
          <a:prstGeom prst="roundRect">
            <a:avLst>
              <a:gd name="adj" fmla="val 3020"/>
            </a:avLst>
          </a:prstGeom>
          <a:solidFill>
            <a:srgbClr val="EEF3FC"/>
          </a:solidFill>
          <a:ln/>
        </p:spPr>
      </p:sp>
      <p:sp>
        <p:nvSpPr>
          <p:cNvPr id="22" name="Text 20"/>
          <p:cNvSpPr/>
          <p:nvPr/>
        </p:nvSpPr>
        <p:spPr>
          <a:xfrm>
            <a:off x="9300863" y="1845315"/>
            <a:ext cx="1871301" cy="440591"/>
          </a:xfrm>
          <a:prstGeom prst="rect">
            <a:avLst/>
          </a:prstGeom>
          <a:noFill/>
          <a:ln/>
        </p:spPr>
        <p:txBody>
          <a:bodyPr wrap="square" rtlCol="0" anchor="ctr"/>
          <a:lstStyle/>
          <a:p>
            <a:pPr marL="0" indent="0">
              <a:buNone/>
            </a:pPr>
            <a:r>
              <a:rPr lang="en-US" sz="1700" b="1" dirty="0">
                <a:solidFill>
                  <a:srgbClr val="1E2761"/>
                </a:solidFill>
                <a:latin typeface="Times New Roman" panose="02020603050405020304" pitchFamily="18" charset="0"/>
                <a:ea typeface="Cambria" pitchFamily="34" charset="-122"/>
                <a:cs typeface="Times New Roman" panose="02020603050405020304" pitchFamily="18" charset="0"/>
              </a:rPr>
              <a:t>EfficientNet-B4</a:t>
            </a:r>
            <a:endParaRPr lang="en-US" sz="1700" dirty="0">
              <a:latin typeface="Times New Roman" panose="02020603050405020304" pitchFamily="18" charset="0"/>
              <a:cs typeface="Times New Roman" panose="02020603050405020304" pitchFamily="18" charset="0"/>
            </a:endParaRPr>
          </a:p>
        </p:txBody>
      </p:sp>
      <p:sp>
        <p:nvSpPr>
          <p:cNvPr id="23" name="Text 21"/>
          <p:cNvSpPr/>
          <p:nvPr/>
        </p:nvSpPr>
        <p:spPr>
          <a:xfrm>
            <a:off x="9300863" y="2348235"/>
            <a:ext cx="2322576" cy="1051560"/>
          </a:xfrm>
          <a:prstGeom prst="rect">
            <a:avLst/>
          </a:prstGeom>
          <a:noFill/>
          <a:ln/>
        </p:spPr>
        <p:txBody>
          <a:bodyPr wrap="square" rtlCol="0" anchor="ctr"/>
          <a:lstStyle/>
          <a:p>
            <a:pPr marL="0" indent="0">
              <a:lnSpc>
                <a:spcPts val="1500"/>
              </a:lnSpc>
              <a:buNone/>
            </a:pPr>
            <a:r>
              <a:rPr lang="en-US" sz="1150" dirty="0">
                <a:solidFill>
                  <a:srgbClr val="222436"/>
                </a:solidFill>
                <a:latin typeface="Times New Roman" panose="02020603050405020304" pitchFamily="18" charset="0"/>
                <a:ea typeface="Calibri" pitchFamily="34" charset="-122"/>
                <a:cs typeface="Times New Roman" panose="02020603050405020304" pitchFamily="18" charset="0"/>
              </a:rPr>
              <a:t>Compound scaling across depth, width &amp; resolution.</a:t>
            </a:r>
            <a:endParaRPr lang="en-US" sz="1150" dirty="0">
              <a:latin typeface="Times New Roman" panose="02020603050405020304" pitchFamily="18" charset="0"/>
              <a:cs typeface="Times New Roman" panose="02020603050405020304" pitchFamily="18" charset="0"/>
            </a:endParaRPr>
          </a:p>
        </p:txBody>
      </p:sp>
      <p:sp>
        <p:nvSpPr>
          <p:cNvPr id="24" name="Text 22"/>
          <p:cNvSpPr/>
          <p:nvPr/>
        </p:nvSpPr>
        <p:spPr>
          <a:xfrm>
            <a:off x="9300863" y="3270099"/>
            <a:ext cx="1552800" cy="442271"/>
          </a:xfrm>
          <a:prstGeom prst="rect">
            <a:avLst/>
          </a:prstGeom>
          <a:noFill/>
          <a:ln/>
        </p:spPr>
        <p:txBody>
          <a:bodyPr wrap="square" rtlCol="0" anchor="ctr"/>
          <a:lstStyle/>
          <a:p>
            <a:pPr marL="0" indent="0">
              <a:buNone/>
            </a:pPr>
            <a:r>
              <a:rPr lang="en-US" sz="2600" b="1" dirty="0">
                <a:solidFill>
                  <a:srgbClr val="015F6B"/>
                </a:solidFill>
                <a:latin typeface="Times New Roman" panose="02020603050405020304" pitchFamily="18" charset="0"/>
                <a:ea typeface="Cambria" pitchFamily="34" charset="-122"/>
                <a:cs typeface="Times New Roman" panose="02020603050405020304" pitchFamily="18" charset="0"/>
              </a:rPr>
              <a:t>81.21%</a:t>
            </a:r>
            <a:endParaRPr lang="en-US" sz="2600" dirty="0">
              <a:latin typeface="Times New Roman" panose="02020603050405020304" pitchFamily="18" charset="0"/>
              <a:cs typeface="Times New Roman" panose="02020603050405020304" pitchFamily="18" charset="0"/>
            </a:endParaRPr>
          </a:p>
        </p:txBody>
      </p:sp>
      <p:sp>
        <p:nvSpPr>
          <p:cNvPr id="25" name="Text 23"/>
          <p:cNvSpPr/>
          <p:nvPr/>
        </p:nvSpPr>
        <p:spPr>
          <a:xfrm>
            <a:off x="9300863" y="3774699"/>
            <a:ext cx="1664208" cy="338328"/>
          </a:xfrm>
          <a:prstGeom prst="rect">
            <a:avLst/>
          </a:prstGeom>
          <a:noFill/>
          <a:ln/>
        </p:spPr>
        <p:txBody>
          <a:bodyPr wrap="square" rtlCol="0" anchor="ctr"/>
          <a:lstStyle/>
          <a:p>
            <a:pPr marL="0" indent="0">
              <a:buNone/>
            </a:pPr>
            <a:r>
              <a:rPr lang="en-US" sz="1000" dirty="0">
                <a:solidFill>
                  <a:srgbClr val="6B6E85"/>
                </a:solidFill>
                <a:latin typeface="Times New Roman" panose="02020603050405020304" pitchFamily="18" charset="0"/>
                <a:ea typeface="Calibri" pitchFamily="34" charset="-122"/>
                <a:cs typeface="Times New Roman" panose="02020603050405020304" pitchFamily="18" charset="0"/>
              </a:rPr>
              <a:t>Baseline Test Accuracy</a:t>
            </a:r>
            <a:endParaRPr lang="en-US" sz="1000" dirty="0">
              <a:latin typeface="Times New Roman" panose="02020603050405020304" pitchFamily="18" charset="0"/>
              <a:cs typeface="Times New Roman" panose="02020603050405020304" pitchFamily="18" charset="0"/>
            </a:endParaRPr>
          </a:p>
        </p:txBody>
      </p:sp>
      <p:sp>
        <p:nvSpPr>
          <p:cNvPr id="28" name="Text 26"/>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8 / 20</a:t>
            </a:r>
            <a:endParaRPr lang="en-US" sz="900" dirty="0">
              <a:latin typeface="Times New Roman" panose="02020603050405020304" pitchFamily="18" charset="0"/>
              <a:cs typeface="Times New Roman" panose="02020603050405020304" pitchFamily="18" charset="0"/>
            </a:endParaRPr>
          </a:p>
        </p:txBody>
      </p:sp>
      <p:pic>
        <p:nvPicPr>
          <p:cNvPr id="81" name="Picture 80">
            <a:extLst>
              <a:ext uri="{FF2B5EF4-FFF2-40B4-BE49-F238E27FC236}">
                <a16:creationId xmlns:a16="http://schemas.microsoft.com/office/drawing/2014/main" id="{071EB06B-0EFB-4F2E-6454-57E1F1B68F39}"/>
              </a:ext>
            </a:extLst>
          </p:cNvPr>
          <p:cNvPicPr>
            <a:picLocks noChangeAspect="1"/>
          </p:cNvPicPr>
          <p:nvPr/>
        </p:nvPicPr>
        <p:blipFill>
          <a:blip r:embed="rId3"/>
          <a:stretch>
            <a:fillRect/>
          </a:stretch>
        </p:blipFill>
        <p:spPr>
          <a:xfrm>
            <a:off x="1252777" y="4828512"/>
            <a:ext cx="9449737" cy="1988977"/>
          </a:xfrm>
          <a:prstGeom prst="rect">
            <a:avLst/>
          </a:prstGeom>
        </p:spPr>
      </p:pic>
      <p:sp>
        <p:nvSpPr>
          <p:cNvPr id="82" name="TextBox 81">
            <a:extLst>
              <a:ext uri="{FF2B5EF4-FFF2-40B4-BE49-F238E27FC236}">
                <a16:creationId xmlns:a16="http://schemas.microsoft.com/office/drawing/2014/main" id="{107B572A-4AD5-1232-9125-B43D48807583}"/>
              </a:ext>
            </a:extLst>
          </p:cNvPr>
          <p:cNvSpPr txBox="1"/>
          <p:nvPr/>
        </p:nvSpPr>
        <p:spPr>
          <a:xfrm>
            <a:off x="332269" y="4421855"/>
            <a:ext cx="184101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Output Snapshot: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06 · PROPOSED MODEL</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Fine-Tuned ResNet50 — Classification Head</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736092" y="1696212"/>
            <a:ext cx="1481328" cy="1417320"/>
          </a:xfrm>
          <a:prstGeom prst="roundRect">
            <a:avLst>
              <a:gd name="adj" fmla="val 5161"/>
            </a:avLst>
          </a:prstGeom>
          <a:solidFill>
            <a:srgbClr val="EEF3FC"/>
          </a:solidFill>
          <a:ln w="15875">
            <a:solidFill>
              <a:srgbClr val="CADCFC"/>
            </a:solidFill>
            <a:prstDash val="solid"/>
          </a:ln>
        </p:spPr>
      </p:sp>
      <p:sp>
        <p:nvSpPr>
          <p:cNvPr id="5" name="Text 3"/>
          <p:cNvSpPr/>
          <p:nvPr/>
        </p:nvSpPr>
        <p:spPr>
          <a:xfrm>
            <a:off x="790956" y="1805940"/>
            <a:ext cx="1371600" cy="502920"/>
          </a:xfrm>
          <a:prstGeom prst="rect">
            <a:avLst/>
          </a:prstGeom>
          <a:noFill/>
          <a:ln/>
        </p:spPr>
        <p:txBody>
          <a:bodyPr wrap="square" rtlCol="0" anchor="ctr"/>
          <a:lstStyle/>
          <a:p>
            <a:pPr marL="0" indent="0" algn="ctr">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Input</a:t>
            </a:r>
            <a:endParaRPr lang="en-US" sz="1300" dirty="0">
              <a:latin typeface="Times New Roman" panose="02020603050405020304" pitchFamily="18" charset="0"/>
              <a:cs typeface="Times New Roman" panose="02020603050405020304" pitchFamily="18" charset="0"/>
            </a:endParaRPr>
          </a:p>
        </p:txBody>
      </p:sp>
      <p:sp>
        <p:nvSpPr>
          <p:cNvPr id="6" name="Text 4"/>
          <p:cNvSpPr/>
          <p:nvPr/>
        </p:nvSpPr>
        <p:spPr>
          <a:xfrm>
            <a:off x="790956" y="2318004"/>
            <a:ext cx="1371600" cy="731520"/>
          </a:xfrm>
          <a:prstGeom prst="rect">
            <a:avLst/>
          </a:prstGeom>
          <a:noFill/>
          <a:ln/>
        </p:spPr>
        <p:txBody>
          <a:bodyPr wrap="square" rtlCol="0" anchor="t"/>
          <a:lstStyle/>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300×300×3 image</a:t>
            </a:r>
            <a:endParaRPr lang="en-US" sz="950" dirty="0">
              <a:latin typeface="Times New Roman" panose="02020603050405020304" pitchFamily="18" charset="0"/>
              <a:cs typeface="Times New Roman" panose="02020603050405020304" pitchFamily="18" charset="0"/>
            </a:endParaRPr>
          </a:p>
        </p:txBody>
      </p:sp>
      <p:sp>
        <p:nvSpPr>
          <p:cNvPr id="7" name="Shape 5"/>
          <p:cNvSpPr/>
          <p:nvPr/>
        </p:nvSpPr>
        <p:spPr>
          <a:xfrm>
            <a:off x="2308860" y="2313432"/>
            <a:ext cx="182880" cy="182880"/>
          </a:xfrm>
          <a:prstGeom prst="rightArrow">
            <a:avLst/>
          </a:prstGeom>
          <a:solidFill>
            <a:srgbClr val="028090"/>
          </a:solidFill>
          <a:ln/>
        </p:spPr>
      </p:sp>
      <p:sp>
        <p:nvSpPr>
          <p:cNvPr id="8" name="Shape 6"/>
          <p:cNvSpPr/>
          <p:nvPr/>
        </p:nvSpPr>
        <p:spPr>
          <a:xfrm>
            <a:off x="2583180" y="1696212"/>
            <a:ext cx="1481328" cy="1417320"/>
          </a:xfrm>
          <a:prstGeom prst="roundRect">
            <a:avLst>
              <a:gd name="adj" fmla="val 5161"/>
            </a:avLst>
          </a:prstGeom>
          <a:solidFill>
            <a:srgbClr val="1E2761"/>
          </a:solidFill>
          <a:ln w="15875">
            <a:solidFill>
              <a:srgbClr val="1E2761"/>
            </a:solidFill>
            <a:prstDash val="solid"/>
          </a:ln>
        </p:spPr>
      </p:sp>
      <p:sp>
        <p:nvSpPr>
          <p:cNvPr id="9" name="Text 7"/>
          <p:cNvSpPr/>
          <p:nvPr/>
        </p:nvSpPr>
        <p:spPr>
          <a:xfrm>
            <a:off x="2638044" y="1805940"/>
            <a:ext cx="1371600" cy="502920"/>
          </a:xfrm>
          <a:prstGeom prst="rect">
            <a:avLst/>
          </a:prstGeom>
          <a:noFill/>
          <a:ln/>
        </p:spPr>
        <p:txBody>
          <a:bodyPr wrap="square" rtlCol="0" anchor="ctr"/>
          <a:lstStyle/>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ResNet50</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Backbone</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2638044" y="2318004"/>
            <a:ext cx="1371600" cy="731520"/>
          </a:xfrm>
          <a:prstGeom prst="rect">
            <a:avLst/>
          </a:prstGeom>
          <a:noFill/>
          <a:ln/>
        </p:spPr>
        <p:txBody>
          <a:bodyPr wrap="square" rtlCol="0" anchor="t"/>
          <a:lstStyle/>
          <a:p>
            <a:pPr marL="0" indent="0" algn="ctr">
              <a:lnSpc>
                <a:spcPts val="1200"/>
              </a:lnSpc>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ImageNet-pretrained</a:t>
            </a:r>
            <a:endParaRPr lang="en-US" sz="950" dirty="0">
              <a:latin typeface="Times New Roman" panose="02020603050405020304" pitchFamily="18" charset="0"/>
              <a:cs typeface="Times New Roman" panose="02020603050405020304" pitchFamily="18" charset="0"/>
            </a:endParaRPr>
          </a:p>
          <a:p>
            <a:pPr marL="0" indent="0" algn="ctr">
              <a:lnSpc>
                <a:spcPts val="1200"/>
              </a:lnSpc>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ResNet50 backbone</a:t>
            </a:r>
            <a:endParaRPr lang="en-US" sz="950" dirty="0">
              <a:latin typeface="Times New Roman" panose="02020603050405020304" pitchFamily="18" charset="0"/>
              <a:cs typeface="Times New Roman" panose="02020603050405020304" pitchFamily="18" charset="0"/>
            </a:endParaRPr>
          </a:p>
        </p:txBody>
      </p:sp>
      <p:sp>
        <p:nvSpPr>
          <p:cNvPr id="11" name="Shape 9"/>
          <p:cNvSpPr/>
          <p:nvPr/>
        </p:nvSpPr>
        <p:spPr>
          <a:xfrm>
            <a:off x="4155948" y="2313432"/>
            <a:ext cx="182880" cy="182880"/>
          </a:xfrm>
          <a:prstGeom prst="rightArrow">
            <a:avLst/>
          </a:prstGeom>
          <a:solidFill>
            <a:srgbClr val="028090"/>
          </a:solidFill>
          <a:ln/>
        </p:spPr>
      </p:sp>
      <p:sp>
        <p:nvSpPr>
          <p:cNvPr id="12" name="Shape 10"/>
          <p:cNvSpPr/>
          <p:nvPr/>
        </p:nvSpPr>
        <p:spPr>
          <a:xfrm>
            <a:off x="4430268" y="1696212"/>
            <a:ext cx="1481328" cy="1417320"/>
          </a:xfrm>
          <a:prstGeom prst="roundRect">
            <a:avLst>
              <a:gd name="adj" fmla="val 5161"/>
            </a:avLst>
          </a:prstGeom>
          <a:solidFill>
            <a:srgbClr val="EEF3FC"/>
          </a:solidFill>
          <a:ln w="15875">
            <a:solidFill>
              <a:srgbClr val="CADCFC"/>
            </a:solidFill>
            <a:prstDash val="solid"/>
          </a:ln>
        </p:spPr>
      </p:sp>
      <p:sp>
        <p:nvSpPr>
          <p:cNvPr id="13" name="Text 11"/>
          <p:cNvSpPr/>
          <p:nvPr/>
        </p:nvSpPr>
        <p:spPr>
          <a:xfrm>
            <a:off x="4485132" y="1805940"/>
            <a:ext cx="1371600" cy="502920"/>
          </a:xfrm>
          <a:prstGeom prst="rect">
            <a:avLst/>
          </a:prstGeom>
          <a:noFill/>
          <a:ln/>
        </p:spPr>
        <p:txBody>
          <a:bodyPr wrap="square" rtlCol="0" anchor="ctr"/>
          <a:lstStyle/>
          <a:p>
            <a:pPr marL="0" indent="0" algn="ctr">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GAP</a:t>
            </a:r>
            <a:endParaRPr lang="en-US" sz="1300" dirty="0">
              <a:latin typeface="Times New Roman" panose="02020603050405020304" pitchFamily="18" charset="0"/>
              <a:cs typeface="Times New Roman" panose="02020603050405020304" pitchFamily="18" charset="0"/>
            </a:endParaRPr>
          </a:p>
        </p:txBody>
      </p:sp>
      <p:sp>
        <p:nvSpPr>
          <p:cNvPr id="14" name="Text 12"/>
          <p:cNvSpPr/>
          <p:nvPr/>
        </p:nvSpPr>
        <p:spPr>
          <a:xfrm>
            <a:off x="4485132" y="2318004"/>
            <a:ext cx="1371600" cy="731520"/>
          </a:xfrm>
          <a:prstGeom prst="rect">
            <a:avLst/>
          </a:prstGeom>
          <a:noFill/>
          <a:ln/>
        </p:spPr>
        <p:txBody>
          <a:bodyPr wrap="square" rtlCol="0" anchor="t"/>
          <a:lstStyle/>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Global Average</a:t>
            </a:r>
            <a:endParaRPr lang="en-US" sz="950" dirty="0">
              <a:latin typeface="Times New Roman" panose="02020603050405020304" pitchFamily="18" charset="0"/>
              <a:cs typeface="Times New Roman" panose="02020603050405020304" pitchFamily="18" charset="0"/>
            </a:endParaRPr>
          </a:p>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Pooling</a:t>
            </a:r>
            <a:endParaRPr lang="en-US" sz="950" dirty="0">
              <a:latin typeface="Times New Roman" panose="02020603050405020304" pitchFamily="18" charset="0"/>
              <a:cs typeface="Times New Roman" panose="02020603050405020304" pitchFamily="18" charset="0"/>
            </a:endParaRPr>
          </a:p>
        </p:txBody>
      </p:sp>
      <p:sp>
        <p:nvSpPr>
          <p:cNvPr id="15" name="Shape 13"/>
          <p:cNvSpPr/>
          <p:nvPr/>
        </p:nvSpPr>
        <p:spPr>
          <a:xfrm>
            <a:off x="6003036" y="2313432"/>
            <a:ext cx="182880" cy="182880"/>
          </a:xfrm>
          <a:prstGeom prst="rightArrow">
            <a:avLst/>
          </a:prstGeom>
          <a:solidFill>
            <a:srgbClr val="028090"/>
          </a:solidFill>
          <a:ln/>
        </p:spPr>
      </p:sp>
      <p:sp>
        <p:nvSpPr>
          <p:cNvPr id="16" name="Shape 14"/>
          <p:cNvSpPr/>
          <p:nvPr/>
        </p:nvSpPr>
        <p:spPr>
          <a:xfrm>
            <a:off x="6277356" y="1696212"/>
            <a:ext cx="1481328" cy="1417320"/>
          </a:xfrm>
          <a:prstGeom prst="roundRect">
            <a:avLst>
              <a:gd name="adj" fmla="val 5161"/>
            </a:avLst>
          </a:prstGeom>
          <a:solidFill>
            <a:srgbClr val="EEF3FC"/>
          </a:solidFill>
          <a:ln w="15875">
            <a:solidFill>
              <a:srgbClr val="CADCFC"/>
            </a:solidFill>
            <a:prstDash val="solid"/>
          </a:ln>
        </p:spPr>
      </p:sp>
      <p:sp>
        <p:nvSpPr>
          <p:cNvPr id="17" name="Text 15"/>
          <p:cNvSpPr/>
          <p:nvPr/>
        </p:nvSpPr>
        <p:spPr>
          <a:xfrm>
            <a:off x="6332220" y="1805940"/>
            <a:ext cx="1371600" cy="502920"/>
          </a:xfrm>
          <a:prstGeom prst="rect">
            <a:avLst/>
          </a:prstGeom>
          <a:noFill/>
          <a:ln/>
        </p:spPr>
        <p:txBody>
          <a:bodyPr wrap="square" rtlCol="0" anchor="ctr"/>
          <a:lstStyle/>
          <a:p>
            <a:pPr marL="0" indent="0" algn="ctr">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Dense 512</a:t>
            </a:r>
            <a:endParaRPr lang="en-US" sz="1300" dirty="0">
              <a:latin typeface="Times New Roman" panose="02020603050405020304" pitchFamily="18" charset="0"/>
              <a:cs typeface="Times New Roman" panose="02020603050405020304" pitchFamily="18" charset="0"/>
            </a:endParaRPr>
          </a:p>
        </p:txBody>
      </p:sp>
      <p:sp>
        <p:nvSpPr>
          <p:cNvPr id="18" name="Text 16"/>
          <p:cNvSpPr/>
          <p:nvPr/>
        </p:nvSpPr>
        <p:spPr>
          <a:xfrm>
            <a:off x="6332220" y="2318004"/>
            <a:ext cx="1371600" cy="731520"/>
          </a:xfrm>
          <a:prstGeom prst="rect">
            <a:avLst/>
          </a:prstGeom>
          <a:noFill/>
          <a:ln/>
        </p:spPr>
        <p:txBody>
          <a:bodyPr wrap="square" rtlCol="0" anchor="t"/>
          <a:lstStyle/>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 BatchNorm + ReLU</a:t>
            </a:r>
            <a:endParaRPr lang="en-US" sz="950" dirty="0">
              <a:latin typeface="Times New Roman" panose="02020603050405020304" pitchFamily="18" charset="0"/>
              <a:cs typeface="Times New Roman" panose="02020603050405020304" pitchFamily="18" charset="0"/>
            </a:endParaRPr>
          </a:p>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 Dropout 0.40</a:t>
            </a:r>
            <a:endParaRPr lang="en-US" sz="950" dirty="0">
              <a:latin typeface="Times New Roman" panose="02020603050405020304" pitchFamily="18" charset="0"/>
              <a:cs typeface="Times New Roman" panose="02020603050405020304" pitchFamily="18" charset="0"/>
            </a:endParaRPr>
          </a:p>
        </p:txBody>
      </p:sp>
      <p:sp>
        <p:nvSpPr>
          <p:cNvPr id="19" name="Shape 17"/>
          <p:cNvSpPr/>
          <p:nvPr/>
        </p:nvSpPr>
        <p:spPr>
          <a:xfrm>
            <a:off x="7850124" y="2313432"/>
            <a:ext cx="182880" cy="182880"/>
          </a:xfrm>
          <a:prstGeom prst="rightArrow">
            <a:avLst/>
          </a:prstGeom>
          <a:solidFill>
            <a:srgbClr val="028090"/>
          </a:solidFill>
          <a:ln/>
        </p:spPr>
      </p:sp>
      <p:sp>
        <p:nvSpPr>
          <p:cNvPr id="20" name="Shape 18"/>
          <p:cNvSpPr/>
          <p:nvPr/>
        </p:nvSpPr>
        <p:spPr>
          <a:xfrm>
            <a:off x="8124444" y="1696212"/>
            <a:ext cx="1481328" cy="1417320"/>
          </a:xfrm>
          <a:prstGeom prst="roundRect">
            <a:avLst>
              <a:gd name="adj" fmla="val 5161"/>
            </a:avLst>
          </a:prstGeom>
          <a:solidFill>
            <a:srgbClr val="EEF3FC"/>
          </a:solidFill>
          <a:ln w="15875">
            <a:solidFill>
              <a:srgbClr val="CADCFC"/>
            </a:solidFill>
            <a:prstDash val="solid"/>
          </a:ln>
        </p:spPr>
      </p:sp>
      <p:sp>
        <p:nvSpPr>
          <p:cNvPr id="21" name="Text 19"/>
          <p:cNvSpPr/>
          <p:nvPr/>
        </p:nvSpPr>
        <p:spPr>
          <a:xfrm>
            <a:off x="8179308" y="1805940"/>
            <a:ext cx="1371600" cy="502920"/>
          </a:xfrm>
          <a:prstGeom prst="rect">
            <a:avLst/>
          </a:prstGeom>
          <a:noFill/>
          <a:ln/>
        </p:spPr>
        <p:txBody>
          <a:bodyPr wrap="square" rtlCol="0" anchor="ctr"/>
          <a:lstStyle/>
          <a:p>
            <a:pPr marL="0" indent="0" algn="ctr">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Dense 128</a:t>
            </a:r>
            <a:endParaRPr lang="en-US" sz="1300" dirty="0">
              <a:latin typeface="Times New Roman" panose="02020603050405020304" pitchFamily="18" charset="0"/>
              <a:cs typeface="Times New Roman" panose="02020603050405020304" pitchFamily="18" charset="0"/>
            </a:endParaRPr>
          </a:p>
        </p:txBody>
      </p:sp>
      <p:sp>
        <p:nvSpPr>
          <p:cNvPr id="22" name="Text 20"/>
          <p:cNvSpPr/>
          <p:nvPr/>
        </p:nvSpPr>
        <p:spPr>
          <a:xfrm>
            <a:off x="8179308" y="2318004"/>
            <a:ext cx="1371600" cy="731520"/>
          </a:xfrm>
          <a:prstGeom prst="rect">
            <a:avLst/>
          </a:prstGeom>
          <a:noFill/>
          <a:ln/>
        </p:spPr>
        <p:txBody>
          <a:bodyPr wrap="square" rtlCol="0" anchor="t"/>
          <a:lstStyle/>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 BatchNorm + ReLU</a:t>
            </a:r>
            <a:endParaRPr lang="en-US" sz="950" dirty="0">
              <a:latin typeface="Times New Roman" panose="02020603050405020304" pitchFamily="18" charset="0"/>
              <a:cs typeface="Times New Roman" panose="02020603050405020304" pitchFamily="18" charset="0"/>
            </a:endParaRPr>
          </a:p>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 Dropout 0.30</a:t>
            </a:r>
            <a:endParaRPr lang="en-US" sz="950" dirty="0">
              <a:latin typeface="Times New Roman" panose="02020603050405020304" pitchFamily="18" charset="0"/>
              <a:cs typeface="Times New Roman" panose="02020603050405020304" pitchFamily="18" charset="0"/>
            </a:endParaRPr>
          </a:p>
        </p:txBody>
      </p:sp>
      <p:sp>
        <p:nvSpPr>
          <p:cNvPr id="23" name="Shape 21"/>
          <p:cNvSpPr/>
          <p:nvPr/>
        </p:nvSpPr>
        <p:spPr>
          <a:xfrm>
            <a:off x="9697212" y="2313432"/>
            <a:ext cx="182880" cy="182880"/>
          </a:xfrm>
          <a:prstGeom prst="rightArrow">
            <a:avLst/>
          </a:prstGeom>
          <a:solidFill>
            <a:srgbClr val="028090"/>
          </a:solidFill>
          <a:ln/>
        </p:spPr>
      </p:sp>
      <p:sp>
        <p:nvSpPr>
          <p:cNvPr id="24" name="Shape 22"/>
          <p:cNvSpPr/>
          <p:nvPr/>
        </p:nvSpPr>
        <p:spPr>
          <a:xfrm>
            <a:off x="9971532" y="1696212"/>
            <a:ext cx="1481328" cy="1417320"/>
          </a:xfrm>
          <a:prstGeom prst="roundRect">
            <a:avLst>
              <a:gd name="adj" fmla="val 5161"/>
            </a:avLst>
          </a:prstGeom>
          <a:solidFill>
            <a:srgbClr val="EEF3FC"/>
          </a:solidFill>
          <a:ln w="15875">
            <a:solidFill>
              <a:srgbClr val="CADCFC"/>
            </a:solidFill>
            <a:prstDash val="solid"/>
          </a:ln>
        </p:spPr>
      </p:sp>
      <p:sp>
        <p:nvSpPr>
          <p:cNvPr id="25" name="Text 23"/>
          <p:cNvSpPr/>
          <p:nvPr/>
        </p:nvSpPr>
        <p:spPr>
          <a:xfrm>
            <a:off x="10026396" y="1805940"/>
            <a:ext cx="1371600" cy="502920"/>
          </a:xfrm>
          <a:prstGeom prst="rect">
            <a:avLst/>
          </a:prstGeom>
          <a:noFill/>
          <a:ln/>
        </p:spPr>
        <p:txBody>
          <a:bodyPr wrap="square" rtlCol="0" anchor="ctr"/>
          <a:lstStyle/>
          <a:p>
            <a:pPr marL="0" indent="0" algn="ctr">
              <a:buNone/>
            </a:pPr>
            <a:r>
              <a:rPr lang="en-US" sz="1300" b="1" dirty="0">
                <a:solidFill>
                  <a:srgbClr val="1E2761"/>
                </a:solidFill>
                <a:latin typeface="Times New Roman" panose="02020603050405020304" pitchFamily="18" charset="0"/>
                <a:ea typeface="Calibri" pitchFamily="34" charset="-122"/>
                <a:cs typeface="Times New Roman" panose="02020603050405020304" pitchFamily="18" charset="0"/>
              </a:rPr>
              <a:t>Dense 1</a:t>
            </a:r>
            <a:endParaRPr lang="en-US" sz="1300" dirty="0">
              <a:latin typeface="Times New Roman" panose="02020603050405020304" pitchFamily="18" charset="0"/>
              <a:cs typeface="Times New Roman" panose="02020603050405020304" pitchFamily="18" charset="0"/>
            </a:endParaRPr>
          </a:p>
        </p:txBody>
      </p:sp>
      <p:sp>
        <p:nvSpPr>
          <p:cNvPr id="26" name="Text 24"/>
          <p:cNvSpPr/>
          <p:nvPr/>
        </p:nvSpPr>
        <p:spPr>
          <a:xfrm>
            <a:off x="10026396" y="2318004"/>
            <a:ext cx="1371600" cy="731520"/>
          </a:xfrm>
          <a:prstGeom prst="rect">
            <a:avLst/>
          </a:prstGeom>
          <a:noFill/>
          <a:ln/>
        </p:spPr>
        <p:txBody>
          <a:bodyPr wrap="square" rtlCol="0" anchor="t"/>
          <a:lstStyle/>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Sigmoid → ŷ (malignant</a:t>
            </a:r>
            <a:endParaRPr lang="en-US" sz="950" dirty="0">
              <a:latin typeface="Times New Roman" panose="02020603050405020304" pitchFamily="18" charset="0"/>
              <a:cs typeface="Times New Roman" panose="02020603050405020304" pitchFamily="18" charset="0"/>
            </a:endParaRPr>
          </a:p>
          <a:p>
            <a:pPr marL="0" indent="0" algn="ctr">
              <a:lnSpc>
                <a:spcPts val="1200"/>
              </a:lnSpc>
              <a:buNone/>
            </a:pPr>
            <a:r>
              <a:rPr lang="en-US" sz="950" dirty="0">
                <a:solidFill>
                  <a:srgbClr val="222436"/>
                </a:solidFill>
                <a:latin typeface="Times New Roman" panose="02020603050405020304" pitchFamily="18" charset="0"/>
                <a:ea typeface="Calibri" pitchFamily="34" charset="-122"/>
                <a:cs typeface="Times New Roman" panose="02020603050405020304" pitchFamily="18" charset="0"/>
              </a:rPr>
              <a:t>probability)</a:t>
            </a:r>
            <a:endParaRPr lang="en-US" sz="950" dirty="0">
              <a:latin typeface="Times New Roman" panose="02020603050405020304" pitchFamily="18" charset="0"/>
              <a:cs typeface="Times New Roman" panose="02020603050405020304" pitchFamily="18" charset="0"/>
            </a:endParaRPr>
          </a:p>
        </p:txBody>
      </p:sp>
      <p:sp>
        <p:nvSpPr>
          <p:cNvPr id="30" name="Text 28"/>
          <p:cNvSpPr/>
          <p:nvPr/>
        </p:nvSpPr>
        <p:spPr>
          <a:xfrm>
            <a:off x="653796" y="5710792"/>
            <a:ext cx="11064240" cy="655009"/>
          </a:xfrm>
          <a:prstGeom prst="rect">
            <a:avLst/>
          </a:prstGeom>
          <a:noFill/>
          <a:ln/>
        </p:spPr>
        <p:txBody>
          <a:bodyPr wrap="square" rtlCol="0" anchor="ctr"/>
          <a:lstStyle/>
          <a:p>
            <a:pPr marL="342900" indent="-342900">
              <a:lnSpc>
                <a:spcPts val="1900"/>
              </a:lnSpc>
              <a:buSzPct val="100000"/>
              <a:buChar char="●"/>
            </a:pPr>
            <a:r>
              <a:rPr lang="en-US" sz="1400" dirty="0">
                <a:latin typeface="Times New Roman" panose="02020603050405020304" pitchFamily="18" charset="0"/>
                <a:cs typeface="Times New Roman" panose="02020603050405020304" pitchFamily="18" charset="0"/>
              </a:rPr>
              <a:t>Backbone features are globally pooled and passed through two regularized dense blocks (512 → 128) before the final sigmoid output.</a:t>
            </a:r>
          </a:p>
        </p:txBody>
      </p:sp>
      <p:sp>
        <p:nvSpPr>
          <p:cNvPr id="32" name="Text 30"/>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9 / 20</a:t>
            </a:r>
            <a:endParaRPr lang="en-US" sz="900" dirty="0">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7EB9FA8E-5EF2-4CD7-FE72-818EA49C66EB}"/>
              </a:ext>
            </a:extLst>
          </p:cNvPr>
          <p:cNvSpPr txBox="1"/>
          <p:nvPr/>
        </p:nvSpPr>
        <p:spPr>
          <a:xfrm>
            <a:off x="1792084" y="3493008"/>
            <a:ext cx="8421904" cy="369332"/>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b="1" dirty="0">
                <a:latin typeface="Times New Roman" panose="02020603050405020304" pitchFamily="18" charset="0"/>
                <a:cs typeface="Times New Roman" panose="02020603050405020304" pitchFamily="18" charset="0"/>
              </a:rPr>
              <a:t> KEY DESIGN CHOICES   </a:t>
            </a:r>
          </a:p>
        </p:txBody>
      </p:sp>
      <p:sp>
        <p:nvSpPr>
          <p:cNvPr id="35" name="Shape 10">
            <a:extLst>
              <a:ext uri="{FF2B5EF4-FFF2-40B4-BE49-F238E27FC236}">
                <a16:creationId xmlns:a16="http://schemas.microsoft.com/office/drawing/2014/main" id="{5FC37844-4EBD-D44D-3261-EABB395FCC05}"/>
              </a:ext>
            </a:extLst>
          </p:cNvPr>
          <p:cNvSpPr/>
          <p:nvPr/>
        </p:nvSpPr>
        <p:spPr>
          <a:xfrm>
            <a:off x="1176777" y="4240517"/>
            <a:ext cx="2443314" cy="586216"/>
          </a:xfrm>
          <a:prstGeom prst="roundRect">
            <a:avLst>
              <a:gd name="adj" fmla="val 5161"/>
            </a:avLst>
          </a:prstGeom>
          <a:solidFill>
            <a:srgbClr val="EEF3FC"/>
          </a:solidFill>
          <a:ln w="15875">
            <a:solidFill>
              <a:srgbClr val="CADCFC"/>
            </a:solidFill>
            <a:prstDash val="solid"/>
          </a:ln>
        </p:spPr>
        <p:txBody>
          <a:bodyPr/>
          <a:lstStyle/>
          <a:p>
            <a:pPr algn="ctr"/>
            <a:r>
              <a:rPr lang="en-US" sz="1600" b="1" dirty="0">
                <a:latin typeface="Times New Roman" panose="02020603050405020304" pitchFamily="18" charset="0"/>
                <a:cs typeface="Times New Roman" panose="02020603050405020304" pitchFamily="18" charset="0"/>
              </a:rPr>
              <a:t>Global Average Pooling</a:t>
            </a:r>
            <a:endParaRPr lang="en-US" dirty="0">
              <a:latin typeface="Times New Roman" panose="02020603050405020304" pitchFamily="18" charset="0"/>
              <a:cs typeface="Times New Roman" panose="02020603050405020304" pitchFamily="18" charset="0"/>
            </a:endParaRPr>
          </a:p>
        </p:txBody>
      </p:sp>
      <p:sp>
        <p:nvSpPr>
          <p:cNvPr id="39" name="Shape 10">
            <a:extLst>
              <a:ext uri="{FF2B5EF4-FFF2-40B4-BE49-F238E27FC236}">
                <a16:creationId xmlns:a16="http://schemas.microsoft.com/office/drawing/2014/main" id="{119BBB82-75F1-1E9B-EC02-420C04D8BC51}"/>
              </a:ext>
            </a:extLst>
          </p:cNvPr>
          <p:cNvSpPr/>
          <p:nvPr/>
        </p:nvSpPr>
        <p:spPr>
          <a:xfrm>
            <a:off x="4781379" y="4241816"/>
            <a:ext cx="2443314" cy="586216"/>
          </a:xfrm>
          <a:prstGeom prst="roundRect">
            <a:avLst>
              <a:gd name="adj" fmla="val 5161"/>
            </a:avLst>
          </a:prstGeom>
          <a:solidFill>
            <a:srgbClr val="EEF3FC"/>
          </a:solidFill>
          <a:ln w="15875">
            <a:solidFill>
              <a:srgbClr val="CADCFC"/>
            </a:solidFill>
            <a:prstDash val="solid"/>
          </a:ln>
        </p:spPr>
        <p:txBody>
          <a:bodyPr/>
          <a:lstStyle/>
          <a:p>
            <a:pPr algn="ctr"/>
            <a:r>
              <a:rPr lang="en-US" sz="1600" b="1" dirty="0">
                <a:latin typeface="Times New Roman" panose="02020603050405020304" pitchFamily="18" charset="0"/>
                <a:cs typeface="Times New Roman" panose="02020603050405020304" pitchFamily="18" charset="0"/>
              </a:rPr>
              <a:t>Dropout Regularization</a:t>
            </a:r>
            <a:endParaRPr lang="en-US" sz="1600" dirty="0">
              <a:latin typeface="Times New Roman" panose="02020603050405020304" pitchFamily="18" charset="0"/>
              <a:cs typeface="Times New Roman" panose="02020603050405020304" pitchFamily="18" charset="0"/>
            </a:endParaRPr>
          </a:p>
        </p:txBody>
      </p:sp>
      <p:sp>
        <p:nvSpPr>
          <p:cNvPr id="41" name="Shape 10">
            <a:extLst>
              <a:ext uri="{FF2B5EF4-FFF2-40B4-BE49-F238E27FC236}">
                <a16:creationId xmlns:a16="http://schemas.microsoft.com/office/drawing/2014/main" id="{DE062442-5EAD-4EDF-F067-CECBEA22823F}"/>
              </a:ext>
            </a:extLst>
          </p:cNvPr>
          <p:cNvSpPr/>
          <p:nvPr/>
        </p:nvSpPr>
        <p:spPr>
          <a:xfrm>
            <a:off x="8385981" y="4235171"/>
            <a:ext cx="2443314" cy="586216"/>
          </a:xfrm>
          <a:prstGeom prst="roundRect">
            <a:avLst>
              <a:gd name="adj" fmla="val 5161"/>
            </a:avLst>
          </a:prstGeom>
          <a:solidFill>
            <a:srgbClr val="EEF3FC"/>
          </a:solidFill>
          <a:ln w="15875">
            <a:solidFill>
              <a:srgbClr val="CADCFC"/>
            </a:solidFill>
            <a:prstDash val="solid"/>
          </a:ln>
        </p:spPr>
        <p:txBody>
          <a:bodyPr/>
          <a:lstStyle/>
          <a:p>
            <a:pPr algn="ctr"/>
            <a:r>
              <a:rPr lang="en-US" sz="1600" b="1" dirty="0">
                <a:latin typeface="Times New Roman" panose="02020603050405020304" pitchFamily="18" charset="0"/>
                <a:cs typeface="Times New Roman" panose="02020603050405020304" pitchFamily="18" charset="0"/>
              </a:rPr>
              <a:t>Sigmoid Output</a:t>
            </a:r>
            <a:endParaRPr lang="en-US" sz="1600" dirty="0">
              <a:latin typeface="Times New Roman" panose="02020603050405020304" pitchFamily="18" charset="0"/>
              <a:cs typeface="Times New Roman" panose="02020603050405020304" pitchFamily="18" charset="0"/>
            </a:endParaRPr>
          </a:p>
        </p:txBody>
      </p:sp>
      <p:sp>
        <p:nvSpPr>
          <p:cNvPr id="43" name="Shape 6">
            <a:extLst>
              <a:ext uri="{FF2B5EF4-FFF2-40B4-BE49-F238E27FC236}">
                <a16:creationId xmlns:a16="http://schemas.microsoft.com/office/drawing/2014/main" id="{0998924A-8D55-D0CE-C49A-82C867EFF70B}"/>
              </a:ext>
            </a:extLst>
          </p:cNvPr>
          <p:cNvSpPr/>
          <p:nvPr/>
        </p:nvSpPr>
        <p:spPr>
          <a:xfrm>
            <a:off x="1176777" y="4856196"/>
            <a:ext cx="2443314" cy="713979"/>
          </a:xfrm>
          <a:prstGeom prst="roundRect">
            <a:avLst>
              <a:gd name="adj" fmla="val 5161"/>
            </a:avLst>
          </a:prstGeom>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a:lstStyle/>
          <a:p>
            <a:pPr algn="ctr"/>
            <a:r>
              <a:rPr lang="en-US" sz="1400" dirty="0">
                <a:latin typeface="Times New Roman" panose="02020603050405020304" pitchFamily="18" charset="0"/>
                <a:cs typeface="Times New Roman" panose="02020603050405020304" pitchFamily="18" charset="0"/>
              </a:rPr>
              <a:t>Reduces feature dimensions an Makes the feature information simpler.</a:t>
            </a:r>
          </a:p>
          <a:p>
            <a:endParaRPr lang="en-US" dirty="0">
              <a:latin typeface="Times New Roman" panose="02020603050405020304" pitchFamily="18" charset="0"/>
              <a:cs typeface="Times New Roman" panose="02020603050405020304" pitchFamily="18" charset="0"/>
            </a:endParaRPr>
          </a:p>
        </p:txBody>
      </p:sp>
      <p:sp>
        <p:nvSpPr>
          <p:cNvPr id="45" name="Shape 6">
            <a:extLst>
              <a:ext uri="{FF2B5EF4-FFF2-40B4-BE49-F238E27FC236}">
                <a16:creationId xmlns:a16="http://schemas.microsoft.com/office/drawing/2014/main" id="{CE088CD9-127B-C2E7-B9B6-8628CB108F26}"/>
              </a:ext>
            </a:extLst>
          </p:cNvPr>
          <p:cNvSpPr/>
          <p:nvPr/>
        </p:nvSpPr>
        <p:spPr>
          <a:xfrm>
            <a:off x="4781379" y="4861561"/>
            <a:ext cx="2443314" cy="713979"/>
          </a:xfrm>
          <a:prstGeom prst="roundRect">
            <a:avLst>
              <a:gd name="adj" fmla="val 5161"/>
            </a:avLst>
          </a:prstGeom>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a:lstStyle/>
          <a:p>
            <a:pPr algn="ctr"/>
            <a:r>
              <a:rPr lang="en-US" sz="1400" dirty="0">
                <a:latin typeface="Times New Roman" panose="02020603050405020304" pitchFamily="18" charset="0"/>
                <a:cs typeface="Times New Roman" panose="02020603050405020304" pitchFamily="18" charset="0"/>
              </a:rPr>
              <a:t>Dropout rates of </a:t>
            </a:r>
            <a:r>
              <a:rPr lang="en-US" sz="1400" b="1" dirty="0">
                <a:latin typeface="Times New Roman" panose="02020603050405020304" pitchFamily="18" charset="0"/>
                <a:cs typeface="Times New Roman" panose="02020603050405020304" pitchFamily="18" charset="0"/>
              </a:rPr>
              <a:t>0.40 and 0.30</a:t>
            </a:r>
            <a:r>
              <a:rPr lang="en-US" sz="1400" dirty="0">
                <a:latin typeface="Times New Roman" panose="02020603050405020304" pitchFamily="18" charset="0"/>
                <a:cs typeface="Times New Roman" panose="02020603050405020304" pitchFamily="18" charset="0"/>
              </a:rPr>
              <a:t> help reduce overfitting.</a:t>
            </a:r>
          </a:p>
        </p:txBody>
      </p:sp>
      <p:sp>
        <p:nvSpPr>
          <p:cNvPr id="47" name="Shape 6">
            <a:extLst>
              <a:ext uri="{FF2B5EF4-FFF2-40B4-BE49-F238E27FC236}">
                <a16:creationId xmlns:a16="http://schemas.microsoft.com/office/drawing/2014/main" id="{5DB44E34-5E4B-9DBE-3A4B-C3DDF9B4EEC0}"/>
              </a:ext>
            </a:extLst>
          </p:cNvPr>
          <p:cNvSpPr/>
          <p:nvPr/>
        </p:nvSpPr>
        <p:spPr>
          <a:xfrm>
            <a:off x="8385981" y="4870847"/>
            <a:ext cx="2472519" cy="713979"/>
          </a:xfrm>
          <a:prstGeom prst="roundRect">
            <a:avLst>
              <a:gd name="adj" fmla="val 5161"/>
            </a:avLst>
          </a:prstGeom>
          <a:solidFill>
            <a:schemeClr val="accent3">
              <a:lumMod val="20000"/>
              <a:lumOff val="80000"/>
            </a:schemeClr>
          </a:solidFill>
          <a:ln/>
        </p:spPr>
        <p:style>
          <a:lnRef idx="2">
            <a:schemeClr val="accent1"/>
          </a:lnRef>
          <a:fillRef idx="1">
            <a:schemeClr val="lt1"/>
          </a:fillRef>
          <a:effectRef idx="0">
            <a:schemeClr val="accent1"/>
          </a:effectRef>
          <a:fontRef idx="minor">
            <a:schemeClr val="dk1"/>
          </a:fontRef>
        </p:style>
        <p:txBody>
          <a:bodyPr/>
          <a:lstStyle/>
          <a:p>
            <a:pPr algn="ctr"/>
            <a:r>
              <a:rPr lang="en-US" sz="1600" dirty="0">
                <a:latin typeface="Times New Roman" panose="02020603050405020304" pitchFamily="18" charset="0"/>
                <a:cs typeface="Times New Roman" panose="02020603050405020304" pitchFamily="18" charset="0"/>
              </a:rPr>
              <a:t>Produces the probability of the </a:t>
            </a:r>
            <a:r>
              <a:rPr lang="en-US" sz="1600" b="1" dirty="0">
                <a:latin typeface="Times New Roman" panose="02020603050405020304" pitchFamily="18" charset="0"/>
                <a:cs typeface="Times New Roman" panose="02020603050405020304" pitchFamily="18" charset="0"/>
              </a:rPr>
              <a:t>malignant</a:t>
            </a:r>
            <a:r>
              <a:rPr lang="en-US" sz="1600" dirty="0">
                <a:latin typeface="Times New Roman" panose="02020603050405020304" pitchFamily="18" charset="0"/>
                <a:cs typeface="Times New Roman" panose="02020603050405020304" pitchFamily="18" charset="0"/>
              </a:rPr>
              <a:t> class.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06 · TRAINING STRATEGY</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Two-Stage Progressive Fine-Tuning</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548641" y="1691640"/>
            <a:ext cx="4704494" cy="4297680"/>
          </a:xfrm>
          <a:prstGeom prst="roundRect">
            <a:avLst>
              <a:gd name="adj" fmla="val 1915"/>
            </a:avLst>
          </a:prstGeom>
          <a:solidFill>
            <a:srgbClr val="EEF3FC"/>
          </a:solidFill>
          <a:ln/>
        </p:spPr>
      </p:sp>
      <p:sp>
        <p:nvSpPr>
          <p:cNvPr id="5" name="Shape 3"/>
          <p:cNvSpPr/>
          <p:nvPr/>
        </p:nvSpPr>
        <p:spPr>
          <a:xfrm>
            <a:off x="548640" y="1691640"/>
            <a:ext cx="4704495" cy="594360"/>
          </a:xfrm>
          <a:prstGeom prst="roundRect">
            <a:avLst>
              <a:gd name="adj" fmla="val 13846"/>
            </a:avLst>
          </a:prstGeom>
          <a:solidFill>
            <a:srgbClr val="028090"/>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548640" y="1965960"/>
            <a:ext cx="4704495" cy="320040"/>
          </a:xfrm>
          <a:prstGeom prst="rect">
            <a:avLst/>
          </a:prstGeom>
          <a:solidFill>
            <a:srgbClr val="028090"/>
          </a:solidFill>
          <a:ln/>
        </p:spPr>
      </p:sp>
      <p:sp>
        <p:nvSpPr>
          <p:cNvPr id="7" name="Text 5"/>
          <p:cNvSpPr/>
          <p:nvPr/>
        </p:nvSpPr>
        <p:spPr>
          <a:xfrm>
            <a:off x="777240" y="1691640"/>
            <a:ext cx="4475895" cy="59436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Stage 1 — Head Warm-Up</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807097" y="2963403"/>
            <a:ext cx="4187579" cy="2522998"/>
          </a:xfrm>
          <a:prstGeom prst="rect">
            <a:avLst/>
          </a:prstGeom>
          <a:noFill/>
          <a:ln/>
        </p:spPr>
        <p:txBody>
          <a:bodyPr wrap="square" rtlCol="0" anchor="t"/>
          <a:lstStyle/>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ResNet50 backbone fully frozen</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Only the new classification head is trained</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Optimizer: Adam, learning rate = 1×10⁻³</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Up to 15 epochs, EarlyStopping (patience = 4)</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Best validation weights restored</a:t>
            </a: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6431280" y="1691640"/>
            <a:ext cx="4983480" cy="4297680"/>
          </a:xfrm>
          <a:prstGeom prst="roundRect">
            <a:avLst>
              <a:gd name="adj" fmla="val 1915"/>
            </a:avLst>
          </a:prstGeom>
          <a:solidFill>
            <a:srgbClr val="EEF3FC"/>
          </a:solidFill>
          <a:ln/>
        </p:spPr>
      </p:sp>
      <p:sp>
        <p:nvSpPr>
          <p:cNvPr id="10" name="Shape 8"/>
          <p:cNvSpPr/>
          <p:nvPr/>
        </p:nvSpPr>
        <p:spPr>
          <a:xfrm>
            <a:off x="6431280" y="1691640"/>
            <a:ext cx="4983480" cy="594360"/>
          </a:xfrm>
          <a:prstGeom prst="roundRect">
            <a:avLst>
              <a:gd name="adj" fmla="val 13846"/>
            </a:avLst>
          </a:prstGeom>
          <a:solidFill>
            <a:srgbClr val="1E2761"/>
          </a:solidFill>
          <a:ln/>
        </p:spPr>
      </p:sp>
      <p:sp>
        <p:nvSpPr>
          <p:cNvPr id="11" name="Shape 9"/>
          <p:cNvSpPr/>
          <p:nvPr/>
        </p:nvSpPr>
        <p:spPr>
          <a:xfrm>
            <a:off x="6431280" y="1965960"/>
            <a:ext cx="4983480" cy="320040"/>
          </a:xfrm>
          <a:prstGeom prst="rect">
            <a:avLst/>
          </a:prstGeom>
          <a:solidFill>
            <a:srgbClr val="1E2761"/>
          </a:solidFill>
          <a:ln/>
        </p:spPr>
      </p:sp>
      <p:sp>
        <p:nvSpPr>
          <p:cNvPr id="12" name="Text 10"/>
          <p:cNvSpPr/>
          <p:nvPr/>
        </p:nvSpPr>
        <p:spPr>
          <a:xfrm>
            <a:off x="6659880" y="1691640"/>
            <a:ext cx="4564700" cy="594360"/>
          </a:xfrm>
          <a:prstGeom prst="rect">
            <a:avLst/>
          </a:prstGeom>
          <a:noFill/>
          <a:ln/>
        </p:spPr>
        <p:txBody>
          <a:bodyPr wrap="square" rtlCol="0" anchor="ctr"/>
          <a:lstStyle/>
          <a:p>
            <a:pPr marL="0" indent="0">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Stage 2 — Partial Fine-Tuning</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6682548" y="2963403"/>
            <a:ext cx="4480944" cy="2414016"/>
          </a:xfrm>
          <a:prstGeom prst="rect">
            <a:avLst/>
          </a:prstGeom>
          <a:noFill/>
          <a:ln/>
        </p:spPr>
        <p:txBody>
          <a:bodyPr wrap="square" rtlCol="0" anchor="t"/>
          <a:lstStyle/>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Top 30 backbone layers unfrozen </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400" dirty="0">
                <a:latin typeface="Times New Roman" panose="02020603050405020304" pitchFamily="18" charset="0"/>
                <a:cs typeface="Times New Roman" panose="02020603050405020304" pitchFamily="18" charset="0"/>
              </a:rPr>
              <a:t>The unfrozen layers and classification head are trained together.</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Optimizer: Adam, learning rate = 2×10⁻⁵</a:t>
            </a:r>
            <a:endParaRPr lang="en-US" sz="1300" dirty="0">
              <a:latin typeface="Times New Roman" panose="02020603050405020304" pitchFamily="18" charset="0"/>
              <a:cs typeface="Times New Roman" panose="02020603050405020304" pitchFamily="18" charset="0"/>
            </a:endParaRPr>
          </a:p>
          <a:p>
            <a:pPr marL="342900" indent="-342900">
              <a:lnSpc>
                <a:spcPts val="1800"/>
              </a:lnSpc>
              <a:spcAft>
                <a:spcPts val="1200"/>
              </a:spcAft>
              <a:buSzPct val="100000"/>
              <a:buChar char="●"/>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Up to 15 epochs, EarlyStopping (patience = 6)</a:t>
            </a:r>
            <a:endParaRPr lang="en-US" sz="1300" dirty="0">
              <a:latin typeface="Times New Roman" panose="02020603050405020304" pitchFamily="18" charset="0"/>
              <a:cs typeface="Times New Roman" panose="02020603050405020304" pitchFamily="18" charset="0"/>
            </a:endParaRPr>
          </a:p>
        </p:txBody>
      </p:sp>
      <p:sp>
        <p:nvSpPr>
          <p:cNvPr id="15" name="Text 1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10 / 20</a:t>
            </a:r>
            <a:endParaRPr lang="en-US" sz="900" dirty="0">
              <a:latin typeface="Times New Roman" panose="02020603050405020304" pitchFamily="18" charset="0"/>
              <a:cs typeface="Times New Roman" panose="02020603050405020304" pitchFamily="18" charset="0"/>
            </a:endParaRPr>
          </a:p>
        </p:txBody>
      </p:sp>
      <p:sp>
        <p:nvSpPr>
          <p:cNvPr id="23" name="Arrow: Right 22">
            <a:extLst>
              <a:ext uri="{FF2B5EF4-FFF2-40B4-BE49-F238E27FC236}">
                <a16:creationId xmlns:a16="http://schemas.microsoft.com/office/drawing/2014/main" id="{CCD69939-9B5A-D291-3F76-0C408E62A6FA}"/>
              </a:ext>
            </a:extLst>
          </p:cNvPr>
          <p:cNvSpPr/>
          <p:nvPr/>
        </p:nvSpPr>
        <p:spPr>
          <a:xfrm>
            <a:off x="5343019" y="3713583"/>
            <a:ext cx="998376" cy="354563"/>
          </a:xfrm>
          <a:prstGeom prst="rightArrow">
            <a:avLst/>
          </a:prstGeom>
          <a:solidFill>
            <a:schemeClr val="tx2"/>
          </a:solidFill>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07 · DECISION CALIBRATION</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Validation-Based Threshold Selection</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6766560" y="1691640"/>
            <a:ext cx="4846320" cy="2587752"/>
          </a:xfrm>
          <a:prstGeom prst="roundRect">
            <a:avLst>
              <a:gd name="adj" fmla="val 3396"/>
            </a:avLst>
          </a:prstGeom>
          <a:solidFill>
            <a:schemeClr val="bg2">
              <a:lumMod val="25000"/>
            </a:schemeClr>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6995160" y="1847088"/>
            <a:ext cx="4480560" cy="292608"/>
          </a:xfrm>
          <a:prstGeom prst="rect">
            <a:avLst/>
          </a:prstGeom>
          <a:noFill/>
          <a:ln/>
        </p:spPr>
        <p:txBody>
          <a:bodyPr wrap="square" rtlCol="0" anchor="ctr"/>
          <a:lstStyle/>
          <a:p>
            <a:pPr marL="0" indent="0" algn="ctr">
              <a:buNone/>
            </a:pPr>
            <a:r>
              <a:rPr lang="en-US" sz="1400" b="1" kern="0" spc="150" dirty="0">
                <a:solidFill>
                  <a:srgbClr val="CADCFC"/>
                </a:solidFill>
                <a:latin typeface="Times New Roman" panose="02020603050405020304" pitchFamily="18" charset="0"/>
                <a:ea typeface="Calibri" pitchFamily="34" charset="-122"/>
                <a:cs typeface="Times New Roman" panose="02020603050405020304" pitchFamily="18" charset="0"/>
              </a:rPr>
              <a:t>Composite Objective</a:t>
            </a:r>
            <a:endParaRPr lang="en-US" sz="1400" b="1" dirty="0">
              <a:latin typeface="Times New Roman" panose="02020603050405020304" pitchFamily="18" charset="0"/>
              <a:cs typeface="Times New Roman" panose="02020603050405020304" pitchFamily="18" charset="0"/>
            </a:endParaRPr>
          </a:p>
        </p:txBody>
      </p:sp>
      <p:sp>
        <p:nvSpPr>
          <p:cNvPr id="7" name="Text 5"/>
          <p:cNvSpPr/>
          <p:nvPr/>
        </p:nvSpPr>
        <p:spPr>
          <a:xfrm>
            <a:off x="6995160" y="2194560"/>
            <a:ext cx="4480560" cy="457200"/>
          </a:xfrm>
          <a:prstGeom prst="rect">
            <a:avLst/>
          </a:prstGeom>
          <a:noFill/>
          <a:ln/>
        </p:spPr>
        <p:txBody>
          <a:bodyPr wrap="square" rtlCol="0" anchor="ctr"/>
          <a:lstStyle/>
          <a:p>
            <a:pPr marL="0" indent="0">
              <a:buNone/>
            </a:pPr>
            <a:r>
              <a:rPr lang="en-US" sz="1900" i="1" dirty="0">
                <a:solidFill>
                  <a:srgbClr val="FFFFFF"/>
                </a:solidFill>
                <a:latin typeface="Times New Roman" panose="02020603050405020304" pitchFamily="18" charset="0"/>
                <a:ea typeface="Cambria" pitchFamily="34" charset="-122"/>
                <a:cs typeface="Times New Roman" panose="02020603050405020304" pitchFamily="18" charset="0"/>
              </a:rPr>
              <a:t>S(T) = 5·m(T) + 2·A(T) + F1(T)</a:t>
            </a:r>
            <a:endParaRPr lang="en-US" sz="1900" dirty="0">
              <a:latin typeface="Times New Roman" panose="02020603050405020304" pitchFamily="18" charset="0"/>
              <a:cs typeface="Times New Roman" panose="02020603050405020304" pitchFamily="18" charset="0"/>
            </a:endParaRPr>
          </a:p>
        </p:txBody>
      </p:sp>
      <p:sp>
        <p:nvSpPr>
          <p:cNvPr id="8" name="Text 6"/>
          <p:cNvSpPr/>
          <p:nvPr/>
        </p:nvSpPr>
        <p:spPr>
          <a:xfrm>
            <a:off x="6995160" y="2697480"/>
            <a:ext cx="4480560" cy="457200"/>
          </a:xfrm>
          <a:prstGeom prst="rect">
            <a:avLst/>
          </a:prstGeom>
          <a:noFill/>
          <a:ln/>
        </p:spPr>
        <p:txBody>
          <a:bodyPr wrap="square" rtlCol="0" anchor="ctr"/>
          <a:lstStyle/>
          <a:p>
            <a:pPr marL="0" indent="0">
              <a:buNone/>
            </a:pPr>
            <a:r>
              <a:rPr lang="en-US" sz="1550" i="1" dirty="0">
                <a:solidFill>
                  <a:schemeClr val="bg1"/>
                </a:solidFill>
                <a:latin typeface="Times New Roman" panose="02020603050405020304" pitchFamily="18" charset="0"/>
                <a:ea typeface="Cambria" pitchFamily="34" charset="-122"/>
                <a:cs typeface="Times New Roman" panose="02020603050405020304" pitchFamily="18" charset="0"/>
              </a:rPr>
              <a:t>m(T) = min{ A(T), P(T), Se(T), Sp(T), F1(T) }</a:t>
            </a:r>
            <a:endParaRPr lang="en-US" sz="1550" dirty="0">
              <a:solidFill>
                <a:schemeClr val="bg1"/>
              </a:solidFill>
              <a:latin typeface="Times New Roman" panose="02020603050405020304" pitchFamily="18" charset="0"/>
              <a:cs typeface="Times New Roman" panose="02020603050405020304" pitchFamily="18" charset="0"/>
            </a:endParaRPr>
          </a:p>
        </p:txBody>
      </p:sp>
      <p:sp>
        <p:nvSpPr>
          <p:cNvPr id="9" name="Text 7"/>
          <p:cNvSpPr/>
          <p:nvPr/>
        </p:nvSpPr>
        <p:spPr>
          <a:xfrm>
            <a:off x="6995160" y="3246120"/>
            <a:ext cx="4480560" cy="411480"/>
          </a:xfrm>
          <a:prstGeom prst="rect">
            <a:avLst/>
          </a:prstGeom>
          <a:noFill/>
          <a:ln/>
        </p:spPr>
        <p:txBody>
          <a:bodyPr wrap="square" rtlCol="0" anchor="ctr"/>
          <a:lstStyle/>
          <a:p>
            <a:pPr marL="0" indent="0">
              <a:buNone/>
            </a:pPr>
            <a:r>
              <a:rPr lang="en-US" sz="1600" b="1" i="1" dirty="0">
                <a:solidFill>
                  <a:srgbClr val="FFFFFF"/>
                </a:solidFill>
                <a:latin typeface="Times New Roman" panose="02020603050405020304" pitchFamily="18" charset="0"/>
                <a:ea typeface="Cambria" pitchFamily="34" charset="-122"/>
                <a:cs typeface="Times New Roman" panose="02020603050405020304" pitchFamily="18" charset="0"/>
              </a:rPr>
              <a:t>T* = argmax over T of S(T)</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6995160" y="3730752"/>
            <a:ext cx="4480560" cy="320040"/>
          </a:xfrm>
          <a:prstGeom prst="rect">
            <a:avLst/>
          </a:prstGeom>
          <a:noFill/>
          <a:ln/>
        </p:spPr>
        <p:txBody>
          <a:bodyPr wrap="square" rtlCol="0" anchor="ctr"/>
          <a:lstStyle/>
          <a:p>
            <a:r>
              <a:rPr lang="en-US" sz="1050" dirty="0">
                <a:solidFill>
                  <a:schemeClr val="bg1"/>
                </a:solidFill>
                <a:latin typeface="Times New Roman" panose="02020603050405020304" pitchFamily="18" charset="0"/>
                <a:cs typeface="Times New Roman" panose="02020603050405020304" pitchFamily="18" charset="0"/>
              </a:rPr>
              <a:t>Gives more importance to the weakest metric while also considering Accuracy and F1-Score.</a:t>
            </a:r>
          </a:p>
        </p:txBody>
      </p:sp>
      <p:sp>
        <p:nvSpPr>
          <p:cNvPr id="11" name="Shape 9"/>
          <p:cNvSpPr/>
          <p:nvPr/>
        </p:nvSpPr>
        <p:spPr>
          <a:xfrm>
            <a:off x="6720840" y="4562856"/>
            <a:ext cx="4892040" cy="1691640"/>
          </a:xfrm>
          <a:prstGeom prst="roundRect">
            <a:avLst>
              <a:gd name="adj" fmla="val 4865"/>
            </a:avLst>
          </a:prstGeom>
          <a:solidFill>
            <a:srgbClr val="EEF3FC"/>
          </a:solidFill>
          <a:ln/>
        </p:spPr>
      </p:sp>
      <p:sp>
        <p:nvSpPr>
          <p:cNvPr id="12" name="Text 10"/>
          <p:cNvSpPr/>
          <p:nvPr/>
        </p:nvSpPr>
        <p:spPr>
          <a:xfrm>
            <a:off x="6903720" y="4709160"/>
            <a:ext cx="4434840" cy="548640"/>
          </a:xfrm>
          <a:prstGeom prst="rect">
            <a:avLst/>
          </a:prstGeom>
          <a:noFill/>
          <a:ln/>
        </p:spPr>
        <p:txBody>
          <a:bodyPr wrap="square" rtlCol="0" anchor="ctr"/>
          <a:lstStyle/>
          <a:p>
            <a:pPr marL="0" indent="0">
              <a:buNone/>
            </a:pPr>
            <a:r>
              <a:rPr lang="en-US" sz="3000" b="1" dirty="0">
                <a:solidFill>
                  <a:srgbClr val="015F6B"/>
                </a:solidFill>
                <a:latin typeface="Times New Roman" panose="02020603050405020304" pitchFamily="18" charset="0"/>
                <a:ea typeface="Cambria" pitchFamily="34" charset="-122"/>
                <a:cs typeface="Times New Roman" panose="02020603050405020304" pitchFamily="18" charset="0"/>
              </a:rPr>
              <a:t>T* = 0.495</a:t>
            </a:r>
            <a:endParaRPr lang="en-US" sz="3000" dirty="0">
              <a:latin typeface="Times New Roman" panose="02020603050405020304" pitchFamily="18" charset="0"/>
              <a:cs typeface="Times New Roman" panose="02020603050405020304" pitchFamily="18" charset="0"/>
            </a:endParaRPr>
          </a:p>
        </p:txBody>
      </p:sp>
      <p:sp>
        <p:nvSpPr>
          <p:cNvPr id="13" name="Text 11"/>
          <p:cNvSpPr/>
          <p:nvPr/>
        </p:nvSpPr>
        <p:spPr>
          <a:xfrm>
            <a:off x="6903720" y="5294376"/>
            <a:ext cx="4434840" cy="868680"/>
          </a:xfrm>
          <a:prstGeom prst="rect">
            <a:avLst/>
          </a:prstGeom>
          <a:noFill/>
          <a:ln/>
        </p:spPr>
        <p:txBody>
          <a:bodyPr wrap="square" rtlCol="0" anchor="ctr"/>
          <a:lstStyle/>
          <a:p>
            <a:pPr>
              <a:lnSpc>
                <a:spcPts val="1600"/>
              </a:lnSpc>
            </a:pPr>
            <a:r>
              <a:rPr lang="en-US" sz="1200" dirty="0">
                <a:latin typeface="Times New Roman" panose="02020603050405020304" pitchFamily="18" charset="0"/>
                <a:cs typeface="Times New Roman" panose="02020603050405020304" pitchFamily="18" charset="0"/>
              </a:rPr>
              <a:t>Selected threshold for the final Fine-tuned ResNet50.</a:t>
            </a:r>
          </a:p>
          <a:p>
            <a:pPr>
              <a:lnSpc>
                <a:spcPts val="1600"/>
              </a:lnSpc>
            </a:pPr>
            <a:r>
              <a:rPr lang="en-US" sz="1200" dirty="0">
                <a:solidFill>
                  <a:srgbClr val="222436"/>
                </a:solidFill>
                <a:latin typeface="Times New Roman" panose="02020603050405020304" pitchFamily="18" charset="0"/>
                <a:ea typeface="Calibri" pitchFamily="34" charset="-122"/>
                <a:cs typeface="Times New Roman" panose="02020603050405020304" pitchFamily="18" charset="0"/>
              </a:rPr>
              <a:t>Operating point ≈ 0.50)</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Fine-Tuned ResNet50 for Skin Cancer Detection</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11 / 20</a:t>
            </a:r>
            <a:endParaRPr lang="en-US" sz="900" dirty="0">
              <a:latin typeface="Times New Roman" panose="02020603050405020304" pitchFamily="18" charset="0"/>
              <a:cs typeface="Times New Roman" panose="02020603050405020304" pitchFamily="18" charset="0"/>
            </a:endParaRPr>
          </a:p>
        </p:txBody>
      </p:sp>
      <p:sp>
        <p:nvSpPr>
          <p:cNvPr id="21" name="Shape 2">
            <a:extLst>
              <a:ext uri="{FF2B5EF4-FFF2-40B4-BE49-F238E27FC236}">
                <a16:creationId xmlns:a16="http://schemas.microsoft.com/office/drawing/2014/main" id="{8C5E0C2A-7058-54C6-85CD-E29755824FEB}"/>
              </a:ext>
            </a:extLst>
          </p:cNvPr>
          <p:cNvSpPr/>
          <p:nvPr/>
        </p:nvSpPr>
        <p:spPr>
          <a:xfrm>
            <a:off x="548640" y="1968758"/>
            <a:ext cx="5413621" cy="3657601"/>
          </a:xfrm>
          <a:prstGeom prst="roundRect">
            <a:avLst>
              <a:gd name="adj" fmla="val 1915"/>
            </a:avLst>
          </a:prstGeom>
          <a:solidFill>
            <a:schemeClr val="bg1">
              <a:lumMod val="95000"/>
            </a:schemeClr>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23" name="Text 2">
            <a:extLst>
              <a:ext uri="{FF2B5EF4-FFF2-40B4-BE49-F238E27FC236}">
                <a16:creationId xmlns:a16="http://schemas.microsoft.com/office/drawing/2014/main" id="{9B030318-14E3-73A7-F4D5-1BA3C4A04272}"/>
              </a:ext>
            </a:extLst>
          </p:cNvPr>
          <p:cNvSpPr/>
          <p:nvPr/>
        </p:nvSpPr>
        <p:spPr>
          <a:xfrm>
            <a:off x="853440" y="2397872"/>
            <a:ext cx="4799045" cy="3358788"/>
          </a:xfrm>
          <a:prstGeom prst="rect">
            <a:avLst/>
          </a:prstGeom>
          <a:noFill/>
          <a:ln/>
        </p:spPr>
        <p:txBody>
          <a:bodyPr wrap="square" rtlCol="0" anchor="t"/>
          <a:lstStyle/>
          <a:p>
            <a:pPr marL="342900" indent="-342900">
              <a:lnSpc>
                <a:spcPts val="2000"/>
              </a:lnSpc>
              <a:spcAft>
                <a:spcPts val="1200"/>
              </a:spcAft>
              <a:buSzPct val="100000"/>
              <a:buFontTx/>
              <a:buChar char="●"/>
            </a:pPr>
            <a:r>
              <a:rPr lang="en-US" sz="1400" dirty="0">
                <a:latin typeface="Times New Roman" panose="02020603050405020304" pitchFamily="18" charset="0"/>
                <a:cs typeface="Times New Roman" panose="02020603050405020304" pitchFamily="18" charset="0"/>
              </a:rPr>
              <a:t>A fixed 0.50 threshold may not be optimal after transfer learning</a:t>
            </a:r>
            <a:r>
              <a:rPr lang="en-US" sz="1400" dirty="0">
                <a:solidFill>
                  <a:srgbClr val="222436"/>
                </a:solidFill>
                <a:latin typeface="Times New Roman" panose="02020603050405020304" pitchFamily="18" charset="0"/>
                <a:ea typeface="Calibri"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p>
            <a:pPr marL="342900" indent="-342900">
              <a:lnSpc>
                <a:spcPts val="2000"/>
              </a:lnSpc>
              <a:spcAft>
                <a:spcPts val="1200"/>
              </a:spcAft>
              <a:buSzPct val="100000"/>
              <a:buFontTx/>
              <a:buChar char="●"/>
            </a:pPr>
            <a:r>
              <a:rPr lang="en-US" sz="1400" dirty="0">
                <a:latin typeface="Times New Roman" panose="02020603050405020304" pitchFamily="18" charset="0"/>
                <a:cs typeface="Times New Roman" panose="02020603050405020304" pitchFamily="18" charset="0"/>
              </a:rPr>
              <a:t>Thresholds from 0.30 to 0.695 are tested in steps of 0.005 using validation data only.</a:t>
            </a:r>
          </a:p>
          <a:p>
            <a:pPr marL="342900" indent="-342900">
              <a:lnSpc>
                <a:spcPts val="2000"/>
              </a:lnSpc>
              <a:buSzPct val="100000"/>
              <a:buChar char="●"/>
            </a:pPr>
            <a:r>
              <a:rPr lang="en-US" sz="1400" dirty="0">
                <a:latin typeface="Times New Roman" panose="02020603050405020304" pitchFamily="18" charset="0"/>
                <a:cs typeface="Times New Roman" panose="02020603050405020304" pitchFamily="18" charset="0"/>
              </a:rPr>
              <a:t>For each threshold, Accuracy, Precision, Sensitivity, Specificity, and F1-Score are calculated.</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pPr marL="342900" indent="-342900">
              <a:lnSpc>
                <a:spcPts val="2000"/>
              </a:lnSpc>
              <a:buSzPct val="100000"/>
              <a:buFontTx/>
              <a:buChar char="●"/>
            </a:pPr>
            <a:r>
              <a:rPr lang="en-US" sz="1400" dirty="0">
                <a:latin typeface="Times New Roman" panose="02020603050405020304" pitchFamily="18" charset="0"/>
                <a:cs typeface="Times New Roman" panose="02020603050405020304" pitchFamily="18" charset="0"/>
              </a:rPr>
              <a:t>The selected threshold is fixed before test evaluation; no test-set tuning is performed.</a:t>
            </a:r>
          </a:p>
          <a:p>
            <a:pPr marL="342900" indent="-342900">
              <a:lnSpc>
                <a:spcPts val="2000"/>
              </a:lnSpc>
              <a:buSzPct val="100000"/>
              <a:buChar char="●"/>
            </a:pPr>
            <a:endParaRPr lang="en-US" sz="14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08 · ABLATION STUDY</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Loss Function &amp; Test-Time Augmentation</a:t>
            </a:r>
            <a:endParaRPr lang="en-US" sz="3000" dirty="0">
              <a:latin typeface="Times New Roman" panose="02020603050405020304" pitchFamily="18" charset="0"/>
              <a:cs typeface="Times New Roman" panose="02020603050405020304" pitchFamily="18" charset="0"/>
            </a:endParaRPr>
          </a:p>
        </p:txBody>
      </p:sp>
      <p:graphicFrame>
        <p:nvGraphicFramePr>
          <p:cNvPr id="5" name="Chart 0"/>
          <p:cNvGraphicFramePr/>
          <p:nvPr>
            <p:extLst>
              <p:ext uri="{D42A27DB-BD31-4B8C-83A1-F6EECF244321}">
                <p14:modId xmlns:p14="http://schemas.microsoft.com/office/powerpoint/2010/main" val="3748195774"/>
              </p:ext>
            </p:extLst>
          </p:nvPr>
        </p:nvGraphicFramePr>
        <p:xfrm>
          <a:off x="548640" y="4114800"/>
          <a:ext cx="54864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12 / 20</a:t>
            </a:r>
            <a:endParaRPr lang="en-US" sz="9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C5E8FB52-2BC7-1696-5429-877E94B13C95}"/>
              </a:ext>
            </a:extLst>
          </p:cNvPr>
          <p:cNvPicPr>
            <a:picLocks noChangeAspect="1"/>
          </p:cNvPicPr>
          <p:nvPr/>
        </p:nvPicPr>
        <p:blipFill>
          <a:blip r:embed="rId4"/>
          <a:stretch>
            <a:fillRect/>
          </a:stretch>
        </p:blipFill>
        <p:spPr>
          <a:xfrm>
            <a:off x="962152" y="1316736"/>
            <a:ext cx="10038080" cy="2467048"/>
          </a:xfrm>
          <a:prstGeom prst="rect">
            <a:avLst/>
          </a:prstGeom>
        </p:spPr>
      </p:pic>
      <p:sp>
        <p:nvSpPr>
          <p:cNvPr id="15" name="TextBox 14">
            <a:extLst>
              <a:ext uri="{FF2B5EF4-FFF2-40B4-BE49-F238E27FC236}">
                <a16:creationId xmlns:a16="http://schemas.microsoft.com/office/drawing/2014/main" id="{5BFF0C2F-CA60-7313-C946-6B088F4C5F25}"/>
              </a:ext>
            </a:extLst>
          </p:cNvPr>
          <p:cNvSpPr txBox="1"/>
          <p:nvPr/>
        </p:nvSpPr>
        <p:spPr>
          <a:xfrm>
            <a:off x="548640" y="1213596"/>
            <a:ext cx="184731" cy="369332"/>
          </a:xfrm>
          <a:prstGeom prst="rect">
            <a:avLst/>
          </a:prstGeom>
          <a:noFill/>
        </p:spPr>
        <p:txBody>
          <a:bodyPr wrap="none" rtlCol="0">
            <a:spAutoFit/>
          </a:bodyPr>
          <a:lstStyle/>
          <a:p>
            <a:endParaRPr lang="en-US" dirty="0">
              <a:latin typeface="Times New Roman" panose="02020603050405020304" pitchFamily="18" charset="0"/>
              <a:cs typeface="Times New Roman" panose="02020603050405020304" pitchFamily="18" charset="0"/>
            </a:endParaRPr>
          </a:p>
        </p:txBody>
      </p:sp>
      <p:sp>
        <p:nvSpPr>
          <p:cNvPr id="17" name="Shape 9">
            <a:extLst>
              <a:ext uri="{FF2B5EF4-FFF2-40B4-BE49-F238E27FC236}">
                <a16:creationId xmlns:a16="http://schemas.microsoft.com/office/drawing/2014/main" id="{073E1387-668C-FE06-F1CC-65A16605890B}"/>
              </a:ext>
            </a:extLst>
          </p:cNvPr>
          <p:cNvSpPr/>
          <p:nvPr/>
        </p:nvSpPr>
        <p:spPr>
          <a:xfrm>
            <a:off x="6473952" y="4171288"/>
            <a:ext cx="5486400" cy="2350008"/>
          </a:xfrm>
          <a:prstGeom prst="roundRect">
            <a:avLst>
              <a:gd name="adj" fmla="val 4865"/>
            </a:avLst>
          </a:prstGeom>
          <a:solidFill>
            <a:srgbClr val="EEF3FC"/>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9" name="Text 2">
            <a:extLst>
              <a:ext uri="{FF2B5EF4-FFF2-40B4-BE49-F238E27FC236}">
                <a16:creationId xmlns:a16="http://schemas.microsoft.com/office/drawing/2014/main" id="{D3112C59-1FBF-3457-52B6-3EE3761BA55A}"/>
              </a:ext>
            </a:extLst>
          </p:cNvPr>
          <p:cNvSpPr/>
          <p:nvPr/>
        </p:nvSpPr>
        <p:spPr>
          <a:xfrm>
            <a:off x="6528816" y="4403952"/>
            <a:ext cx="5202936" cy="2027328"/>
          </a:xfrm>
          <a:prstGeom prst="rect">
            <a:avLst/>
          </a:prstGeom>
          <a:noFill/>
          <a:ln/>
        </p:spPr>
        <p:txBody>
          <a:bodyPr wrap="square" rtlCol="0" anchor="t"/>
          <a:lstStyle/>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Label smoothing slightly reduces accuracy to 88.07% compared with the fine-tuned ResNet50 model. </a:t>
            </a:r>
          </a:p>
          <a:p>
            <a:pPr marL="285750" lvl="0"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5-view TTA increases specificity to 93.40%, but sensitivity drops to 80.00%, causing more malignant cases to be missed. </a:t>
            </a:r>
          </a:p>
          <a:p>
            <a:pPr marL="285750" lvl="0"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Conclusion: The fine-tuned ResNet50 with standard BCE provides the best overall balance and is retained as the final configuration.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08 · EXPLAINABLE AI</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Grad-CAM: Visualizing Model Attention</a:t>
            </a:r>
            <a:endParaRPr lang="en-US" sz="3000" dirty="0">
              <a:latin typeface="Times New Roman" panose="02020603050405020304" pitchFamily="18" charset="0"/>
              <a:cs typeface="Times New Roman" panose="02020603050405020304" pitchFamily="18" charset="0"/>
            </a:endParaRPr>
          </a:p>
        </p:txBody>
      </p:sp>
      <p:sp>
        <p:nvSpPr>
          <p:cNvPr id="24" name="Text 22"/>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13 / 20</a:t>
            </a:r>
            <a:endParaRPr lang="en-US" sz="900" dirty="0">
              <a:latin typeface="Times New Roman" panose="02020603050405020304" pitchFamily="18" charset="0"/>
              <a:cs typeface="Times New Roman" panose="02020603050405020304" pitchFamily="18" charset="0"/>
            </a:endParaRPr>
          </a:p>
        </p:txBody>
      </p:sp>
      <p:sp>
        <p:nvSpPr>
          <p:cNvPr id="26" name="Shape 13">
            <a:extLst>
              <a:ext uri="{FF2B5EF4-FFF2-40B4-BE49-F238E27FC236}">
                <a16:creationId xmlns:a16="http://schemas.microsoft.com/office/drawing/2014/main" id="{F06582F6-ABA5-2A8D-2D6D-A719AC6ACC34}"/>
              </a:ext>
            </a:extLst>
          </p:cNvPr>
          <p:cNvSpPr/>
          <p:nvPr/>
        </p:nvSpPr>
        <p:spPr>
          <a:xfrm>
            <a:off x="862076" y="1659042"/>
            <a:ext cx="9675368" cy="2519596"/>
          </a:xfrm>
          <a:prstGeom prst="roundRect">
            <a:avLst>
              <a:gd name="adj" fmla="val 4348"/>
            </a:avLst>
          </a:prstGeom>
          <a:solidFill>
            <a:srgbClr val="CADCFC"/>
          </a:solidFill>
          <a:ln w="9525">
            <a:solidFill>
              <a:srgbClr val="1E2761"/>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28" name="Text 2">
            <a:extLst>
              <a:ext uri="{FF2B5EF4-FFF2-40B4-BE49-F238E27FC236}">
                <a16:creationId xmlns:a16="http://schemas.microsoft.com/office/drawing/2014/main" id="{CA07D832-F5F6-3CE3-19C2-F6E33CD3511A}"/>
              </a:ext>
            </a:extLst>
          </p:cNvPr>
          <p:cNvSpPr/>
          <p:nvPr/>
        </p:nvSpPr>
        <p:spPr>
          <a:xfrm>
            <a:off x="862076" y="1870370"/>
            <a:ext cx="9428480" cy="2187448"/>
          </a:xfrm>
          <a:prstGeom prst="rect">
            <a:avLst/>
          </a:prstGeom>
          <a:noFill/>
          <a:ln/>
        </p:spPr>
        <p:txBody>
          <a:bodyPr wrap="square" rtlCol="0" anchor="t"/>
          <a:lstStyle/>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Grad-CAM is applied to the final convolutional layer, conv5_block3_out. </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Gradients from the malignant-class output are used to calculate the importance of each feature map. </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weighted feature maps produce a heatmap showing important image regions. </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is used for visual interpretation only, not as clinical proof. </a:t>
            </a:r>
          </a:p>
        </p:txBody>
      </p:sp>
      <p:sp>
        <p:nvSpPr>
          <p:cNvPr id="34" name="Shape 3">
            <a:extLst>
              <a:ext uri="{FF2B5EF4-FFF2-40B4-BE49-F238E27FC236}">
                <a16:creationId xmlns:a16="http://schemas.microsoft.com/office/drawing/2014/main" id="{D8204133-775F-E1D1-A193-84FD493BCC07}"/>
              </a:ext>
            </a:extLst>
          </p:cNvPr>
          <p:cNvSpPr/>
          <p:nvPr/>
        </p:nvSpPr>
        <p:spPr>
          <a:xfrm>
            <a:off x="2106676" y="4478188"/>
            <a:ext cx="6939279" cy="1833203"/>
          </a:xfrm>
          <a:prstGeom prst="roundRect">
            <a:avLst>
              <a:gd name="adj" fmla="val 5161"/>
            </a:avLst>
          </a:prstGeom>
          <a:solidFill>
            <a:srgbClr val="EEF3FC"/>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36" name="Text 4">
            <a:extLst>
              <a:ext uri="{FF2B5EF4-FFF2-40B4-BE49-F238E27FC236}">
                <a16:creationId xmlns:a16="http://schemas.microsoft.com/office/drawing/2014/main" id="{9C3D1F95-46AF-8D58-1E33-337F2689559A}"/>
              </a:ext>
            </a:extLst>
          </p:cNvPr>
          <p:cNvSpPr/>
          <p:nvPr/>
        </p:nvSpPr>
        <p:spPr>
          <a:xfrm>
            <a:off x="3517899" y="4478188"/>
            <a:ext cx="5156201" cy="917365"/>
          </a:xfrm>
          <a:prstGeom prst="rect">
            <a:avLst/>
          </a:prstGeom>
          <a:noFill/>
          <a:ln/>
        </p:spPr>
        <p:txBody>
          <a:bodyPr wrap="square" rtlCol="0" anchor="ctr"/>
          <a:lstStyle/>
          <a:p>
            <a:pPr marL="0" indent="0">
              <a:buNone/>
            </a:pPr>
            <a:r>
              <a:rPr lang="en-US" sz="1700" b="1" i="1" dirty="0">
                <a:solidFill>
                  <a:srgbClr val="1E2761"/>
                </a:solidFill>
                <a:latin typeface="Times New Roman" panose="02020603050405020304" pitchFamily="18" charset="0"/>
                <a:ea typeface="Cambria" pitchFamily="34" charset="-122"/>
                <a:cs typeface="Times New Roman" panose="02020603050405020304" pitchFamily="18" charset="0"/>
              </a:rPr>
              <a:t>αᵏᶜ = (1/Z) Σᵢ Σⱼ  ∂yᶜ / ∂Aᵢⱼᵏ</a:t>
            </a:r>
            <a:endParaRPr lang="en-US" sz="1700" dirty="0">
              <a:latin typeface="Times New Roman" panose="02020603050405020304" pitchFamily="18" charset="0"/>
              <a:cs typeface="Times New Roman" panose="02020603050405020304" pitchFamily="18" charset="0"/>
            </a:endParaRPr>
          </a:p>
        </p:txBody>
      </p:sp>
      <p:sp>
        <p:nvSpPr>
          <p:cNvPr id="38" name="Text 5">
            <a:extLst>
              <a:ext uri="{FF2B5EF4-FFF2-40B4-BE49-F238E27FC236}">
                <a16:creationId xmlns:a16="http://schemas.microsoft.com/office/drawing/2014/main" id="{4DED1AC8-9241-F9A1-5A0C-CA9701FD6EA1}"/>
              </a:ext>
            </a:extLst>
          </p:cNvPr>
          <p:cNvSpPr/>
          <p:nvPr/>
        </p:nvSpPr>
        <p:spPr>
          <a:xfrm>
            <a:off x="3517899" y="5008540"/>
            <a:ext cx="5156201" cy="833968"/>
          </a:xfrm>
          <a:prstGeom prst="rect">
            <a:avLst/>
          </a:prstGeom>
          <a:noFill/>
          <a:ln/>
        </p:spPr>
        <p:txBody>
          <a:bodyPr wrap="square" rtlCol="0" anchor="ctr"/>
          <a:lstStyle/>
          <a:p>
            <a:pPr marL="0" indent="0">
              <a:buNone/>
            </a:pPr>
            <a:r>
              <a:rPr lang="en-US" sz="1600" b="1" i="1" dirty="0">
                <a:solidFill>
                  <a:srgbClr val="015F6B"/>
                </a:solidFill>
                <a:latin typeface="Times New Roman" panose="02020603050405020304" pitchFamily="18" charset="0"/>
                <a:ea typeface="Cambria" pitchFamily="34" charset="-122"/>
                <a:cs typeface="Times New Roman" panose="02020603050405020304" pitchFamily="18" charset="0"/>
              </a:rPr>
              <a:t>Lᶜ = ReLU( Σₖ αᵏᶜ Aᵏ )   —   Eq. (9)–(10)</a:t>
            </a:r>
            <a:endParaRPr lang="en-US" sz="1600" dirty="0">
              <a:latin typeface="Times New Roman" panose="02020603050405020304" pitchFamily="18" charset="0"/>
              <a:cs typeface="Times New Roman" panose="02020603050405020304" pitchFamily="18" charset="0"/>
            </a:endParaRPr>
          </a:p>
        </p:txBody>
      </p:sp>
      <p:sp>
        <p:nvSpPr>
          <p:cNvPr id="40" name="Text 6">
            <a:extLst>
              <a:ext uri="{FF2B5EF4-FFF2-40B4-BE49-F238E27FC236}">
                <a16:creationId xmlns:a16="http://schemas.microsoft.com/office/drawing/2014/main" id="{F7D4FEA6-6DB4-B084-9B1F-93D5AA8103A0}"/>
              </a:ext>
            </a:extLst>
          </p:cNvPr>
          <p:cNvSpPr/>
          <p:nvPr/>
        </p:nvSpPr>
        <p:spPr>
          <a:xfrm>
            <a:off x="3517899" y="5511460"/>
            <a:ext cx="5156201" cy="500381"/>
          </a:xfrm>
          <a:prstGeom prst="rect">
            <a:avLst/>
          </a:prstGeom>
          <a:noFill/>
          <a:ln/>
        </p:spPr>
        <p:txBody>
          <a:bodyPr wrap="square" rtlCol="0" anchor="ctr"/>
          <a:lstStyle/>
          <a:p>
            <a:pPr marL="0" indent="0">
              <a:buNone/>
            </a:pPr>
            <a:r>
              <a:rPr lang="en-US" sz="1050" dirty="0">
                <a:solidFill>
                  <a:srgbClr val="6B6E85"/>
                </a:solidFill>
                <a:latin typeface="Times New Roman" panose="02020603050405020304" pitchFamily="18" charset="0"/>
                <a:ea typeface="Calibri" pitchFamily="34" charset="-122"/>
                <a:cs typeface="Times New Roman" panose="02020603050405020304" pitchFamily="18" charset="0"/>
              </a:rPr>
              <a:t>Channel weights αᵏᶜ capture importance of each feature map for the malignant class yᶜ.</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9E493FD-647A-4730-E8B2-50CFA39057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706E0E-67BF-D734-8054-A7840AC9C20B}"/>
              </a:ext>
            </a:extLst>
          </p:cNvPr>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Calibri" pitchFamily="34" charset="0"/>
                <a:ea typeface="Calibri" pitchFamily="34" charset="-122"/>
                <a:cs typeface="Calibri" pitchFamily="34" charset="-120"/>
              </a:rPr>
              <a:t>08 · EXPLAINABLE AI</a:t>
            </a:r>
            <a:endParaRPr lang="en-US" sz="1200" dirty="0"/>
          </a:p>
        </p:txBody>
      </p:sp>
      <p:sp>
        <p:nvSpPr>
          <p:cNvPr id="3" name="Text 1">
            <a:extLst>
              <a:ext uri="{FF2B5EF4-FFF2-40B4-BE49-F238E27FC236}">
                <a16:creationId xmlns:a16="http://schemas.microsoft.com/office/drawing/2014/main" id="{879355C1-FE8A-EA4A-5F72-C7EC1DB6CD67}"/>
              </a:ext>
            </a:extLst>
          </p:cNvPr>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Cambria" pitchFamily="34" charset="0"/>
                <a:ea typeface="Cambria" pitchFamily="34" charset="-122"/>
                <a:cs typeface="Cambria" pitchFamily="34" charset="-120"/>
              </a:rPr>
              <a:t>Grad-CAM: Visualizing Model Attention</a:t>
            </a:r>
            <a:endParaRPr lang="en-US" sz="3000" dirty="0"/>
          </a:p>
        </p:txBody>
      </p:sp>
      <p:sp>
        <p:nvSpPr>
          <p:cNvPr id="24" name="Text 22">
            <a:extLst>
              <a:ext uri="{FF2B5EF4-FFF2-40B4-BE49-F238E27FC236}">
                <a16:creationId xmlns:a16="http://schemas.microsoft.com/office/drawing/2014/main" id="{9069976F-67FA-74FA-9799-DFF3D4522563}"/>
              </a:ext>
            </a:extLst>
          </p:cNvPr>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Calibri" pitchFamily="34" charset="0"/>
                <a:ea typeface="Calibri" pitchFamily="34" charset="-122"/>
                <a:cs typeface="Calibri" pitchFamily="34" charset="-120"/>
              </a:rPr>
              <a:t>13 / 20</a:t>
            </a:r>
            <a:endParaRPr lang="en-US" sz="900" dirty="0"/>
          </a:p>
        </p:txBody>
      </p:sp>
      <p:pic>
        <p:nvPicPr>
          <p:cNvPr id="5" name="Picture 4">
            <a:extLst>
              <a:ext uri="{FF2B5EF4-FFF2-40B4-BE49-F238E27FC236}">
                <a16:creationId xmlns:a16="http://schemas.microsoft.com/office/drawing/2014/main" id="{1E2D7BC6-AF4F-0B4D-DAAC-E8B3AEEAABD3}"/>
              </a:ext>
            </a:extLst>
          </p:cNvPr>
          <p:cNvPicPr>
            <a:picLocks noChangeAspect="1"/>
          </p:cNvPicPr>
          <p:nvPr/>
        </p:nvPicPr>
        <p:blipFill>
          <a:blip r:embed="rId3"/>
          <a:stretch>
            <a:fillRect/>
          </a:stretch>
        </p:blipFill>
        <p:spPr>
          <a:xfrm>
            <a:off x="1356215" y="1316736"/>
            <a:ext cx="9012209" cy="2450592"/>
          </a:xfrm>
          <a:prstGeom prst="rect">
            <a:avLst/>
          </a:prstGeom>
        </p:spPr>
      </p:pic>
      <p:pic>
        <p:nvPicPr>
          <p:cNvPr id="7" name="Picture 6">
            <a:extLst>
              <a:ext uri="{FF2B5EF4-FFF2-40B4-BE49-F238E27FC236}">
                <a16:creationId xmlns:a16="http://schemas.microsoft.com/office/drawing/2014/main" id="{1CA2A25B-94DB-3C24-E64A-47B647B381A8}"/>
              </a:ext>
            </a:extLst>
          </p:cNvPr>
          <p:cNvPicPr>
            <a:picLocks noChangeAspect="1"/>
          </p:cNvPicPr>
          <p:nvPr/>
        </p:nvPicPr>
        <p:blipFill>
          <a:blip r:embed="rId4"/>
          <a:stretch>
            <a:fillRect/>
          </a:stretch>
        </p:blipFill>
        <p:spPr>
          <a:xfrm>
            <a:off x="1356215" y="4096512"/>
            <a:ext cx="9012209" cy="2450592"/>
          </a:xfrm>
          <a:prstGeom prst="rect">
            <a:avLst/>
          </a:prstGeom>
        </p:spPr>
      </p:pic>
    </p:spTree>
    <p:extLst>
      <p:ext uri="{BB962C8B-B14F-4D97-AF65-F5344CB8AC3E}">
        <p14:creationId xmlns:p14="http://schemas.microsoft.com/office/powerpoint/2010/main" val="298246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09 · RESULTS</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Official Benchmark Test-Set Performance</a:t>
            </a:r>
            <a:endParaRPr lang="en-US" sz="3000" dirty="0">
              <a:latin typeface="Times New Roman" panose="02020603050405020304" pitchFamily="18" charset="0"/>
              <a:cs typeface="Times New Roman" panose="02020603050405020304" pitchFamily="18" charset="0"/>
            </a:endParaRPr>
          </a:p>
        </p:txBody>
      </p:sp>
      <p:sp>
        <p:nvSpPr>
          <p:cNvPr id="7" name="Text 4"/>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14 / 20</a:t>
            </a:r>
            <a:endParaRPr lang="en-US" sz="9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032C322-34EC-95C9-D4CE-78AA7B7FA2B5}"/>
              </a:ext>
            </a:extLst>
          </p:cNvPr>
          <p:cNvPicPr>
            <a:picLocks noChangeAspect="1"/>
          </p:cNvPicPr>
          <p:nvPr/>
        </p:nvPicPr>
        <p:blipFill>
          <a:blip r:embed="rId3"/>
          <a:srcRect t="-1" r="12167" b="-1515"/>
          <a:stretch>
            <a:fillRect/>
          </a:stretch>
        </p:blipFill>
        <p:spPr>
          <a:xfrm>
            <a:off x="486554" y="1087620"/>
            <a:ext cx="11245198" cy="53233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B7F9C53-1332-D3A0-32F2-16F0D4C09F7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30D6AA-EC30-824A-4369-9196B3E25F4F}"/>
              </a:ext>
            </a:extLst>
          </p:cNvPr>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09 · RESULTS</a:t>
            </a:r>
            <a:endParaRPr lang="en-US" sz="12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98533827-80D2-2EB8-E973-278C7F902A53}"/>
              </a:ext>
            </a:extLst>
          </p:cNvPr>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Official Benchmark Test-Set Performance</a:t>
            </a:r>
            <a:endParaRPr lang="en-US" sz="3000" dirty="0">
              <a:latin typeface="Times New Roman" panose="02020603050405020304" pitchFamily="18" charset="0"/>
              <a:cs typeface="Times New Roman" panose="02020603050405020304" pitchFamily="18" charset="0"/>
            </a:endParaRPr>
          </a:p>
        </p:txBody>
      </p:sp>
      <p:graphicFrame>
        <p:nvGraphicFramePr>
          <p:cNvPr id="15" name="Table 0">
            <a:extLst>
              <a:ext uri="{FF2B5EF4-FFF2-40B4-BE49-F238E27FC236}">
                <a16:creationId xmlns:a16="http://schemas.microsoft.com/office/drawing/2014/main" id="{5505D3F3-C01E-7AB3-FA97-30C0B613E031}"/>
              </a:ext>
            </a:extLst>
          </p:cNvPr>
          <p:cNvGraphicFramePr>
            <a:graphicFrameLocks noGrp="1"/>
          </p:cNvGraphicFramePr>
          <p:nvPr/>
        </p:nvGraphicFramePr>
        <p:xfrm>
          <a:off x="457200" y="1691640"/>
          <a:ext cx="11247120" cy="3657600"/>
        </p:xfrm>
        <a:graphic>
          <a:graphicData uri="http://schemas.openxmlformats.org/drawingml/2006/table">
            <a:tbl>
              <a:tblPr/>
              <a:tblGrid>
                <a:gridCol w="31089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1188720">
                  <a:extLst>
                    <a:ext uri="{9D8B030D-6E8A-4147-A177-3AD203B41FA5}">
                      <a16:colId xmlns:a16="http://schemas.microsoft.com/office/drawing/2014/main" val="20007"/>
                    </a:ext>
                  </a:extLst>
                </a:gridCol>
              </a:tblGrid>
              <a:tr h="4572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Prec.</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Sens.</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Spec.</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AUC</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015F6B"/>
                          </a:solidFill>
                          <a:latin typeface="Calibri" pitchFamily="34" charset="0"/>
                          <a:ea typeface="Calibri" pitchFamily="34" charset="-122"/>
                          <a:cs typeface="Calibri" pitchFamily="34" charset="-120"/>
                        </a:rPr>
                        <a:t>Fine-tuned ResNet50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90.91%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88.22%</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92.33%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89.72%</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90.23%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tc>
                  <a:txBody>
                    <a:bodyPr/>
                    <a:lstStyle/>
                    <a:p>
                      <a:pPr marL="0" indent="0" algn="ctr">
                        <a:buNone/>
                      </a:pPr>
                      <a:r>
                        <a:rPr lang="en-US" sz="1150" b="1" dirty="0">
                          <a:solidFill>
                            <a:srgbClr val="015F6B"/>
                          </a:solidFill>
                          <a:latin typeface="Calibri" pitchFamily="34" charset="0"/>
                          <a:ea typeface="Calibri" pitchFamily="34" charset="-122"/>
                          <a:cs typeface="Calibri" pitchFamily="34" charset="-120"/>
                        </a:rPr>
                        <a:t>96.59%</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57200">
                <a:tc>
                  <a:txBody>
                    <a:bodyPr/>
                    <a:lstStyle/>
                    <a:p>
                      <a:pPr marL="0" indent="0">
                        <a:buNone/>
                      </a:pPr>
                      <a:r>
                        <a:rPr lang="en-US" sz="1150" dirty="0">
                          <a:solidFill>
                            <a:srgbClr val="222436"/>
                          </a:solidFill>
                          <a:latin typeface="Calibri" pitchFamily="34" charset="0"/>
                          <a:ea typeface="Calibri" pitchFamily="34" charset="-122"/>
                          <a:cs typeface="Calibri" pitchFamily="34" charset="-120"/>
                        </a:rPr>
                        <a:t>Baseline ResNet50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0.51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88.48%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84.78%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91.00%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86.39%</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87.78%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95.40%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dirty="0">
                          <a:solidFill>
                            <a:srgbClr val="222436"/>
                          </a:solidFill>
                          <a:latin typeface="Calibri" pitchFamily="34" charset="0"/>
                          <a:ea typeface="Calibri" pitchFamily="34" charset="-122"/>
                          <a:cs typeface="Calibri" pitchFamily="34" charset="-120"/>
                        </a:rPr>
                        <a:t>FT ResNet50 + LS</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0.51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88.03%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85.76%</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88.33%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87.78%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87.03%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95.55%</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dirty="0">
                          <a:solidFill>
                            <a:srgbClr val="222436"/>
                          </a:solidFill>
                          <a:latin typeface="Calibri" pitchFamily="34" charset="0"/>
                          <a:ea typeface="Calibri" pitchFamily="34" charset="-122"/>
                          <a:cs typeface="Calibri" pitchFamily="34" charset="-120"/>
                        </a:rPr>
                        <a:t>FT ResNet50 + LS + TTA</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0.51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86.52%</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91.05%</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78.00%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93.61%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84.02%</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95.38%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dirty="0">
                          <a:solidFill>
                            <a:srgbClr val="222436"/>
                          </a:solidFill>
                          <a:latin typeface="Calibri" pitchFamily="34" charset="0"/>
                          <a:ea typeface="Calibri" pitchFamily="34" charset="-122"/>
                          <a:cs typeface="Calibri" pitchFamily="34" charset="-120"/>
                        </a:rPr>
                        <a:t>MobileNetV2 Baseline</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84.85%</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84.01%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82.33%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86.94%</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83.16%</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91.98%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dirty="0">
                          <a:solidFill>
                            <a:srgbClr val="222436"/>
                          </a:solidFill>
                          <a:latin typeface="Calibri" pitchFamily="34" charset="0"/>
                          <a:ea typeface="Calibri" pitchFamily="34" charset="-122"/>
                          <a:cs typeface="Calibri" pitchFamily="34" charset="-120"/>
                        </a:rPr>
                        <a:t>EfficientNet-B4 Baseline</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0.38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81.21%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73.78%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91.00%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73.06%</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81.49%</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89.27%</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150" dirty="0">
                          <a:solidFill>
                            <a:srgbClr val="222436"/>
                          </a:solidFill>
                          <a:latin typeface="Calibri" pitchFamily="34" charset="0"/>
                          <a:ea typeface="Calibri" pitchFamily="34" charset="-122"/>
                          <a:cs typeface="Calibri" pitchFamily="34" charset="-120"/>
                        </a:rPr>
                        <a:t>DenseNet121 Baseline</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0.37</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81.21%</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76.19%</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85.33%</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77.78%</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80.50%</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22436"/>
                          </a:solidFill>
                          <a:latin typeface="Calibri" pitchFamily="34" charset="0"/>
                          <a:ea typeface="Calibri" pitchFamily="34" charset="-122"/>
                          <a:cs typeface="Calibri" pitchFamily="34" charset="-120"/>
                        </a:rPr>
                        <a:t>89.14%</a:t>
                      </a:r>
                      <a:endParaRPr lang="en-US" sz="11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a:extLst>
              <a:ext uri="{FF2B5EF4-FFF2-40B4-BE49-F238E27FC236}">
                <a16:creationId xmlns:a16="http://schemas.microsoft.com/office/drawing/2014/main" id="{C1B982F6-AFC0-8AF0-9E31-304E6ED8AA94}"/>
              </a:ext>
            </a:extLst>
          </p:cNvPr>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14 / 20</a:t>
            </a:r>
            <a:endParaRPr lang="en-US"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913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Calibri" pitchFamily="34" charset="0"/>
                <a:ea typeface="Calibri" pitchFamily="34" charset="-122"/>
                <a:cs typeface="Calibri" pitchFamily="34" charset="-120"/>
              </a:rPr>
              <a:t>09 · RESULTS</a:t>
            </a:r>
            <a:endParaRPr lang="en-US" sz="1200" dirty="0"/>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Cambria" pitchFamily="34" charset="0"/>
                <a:ea typeface="Cambria" pitchFamily="34" charset="-122"/>
                <a:cs typeface="Cambria" pitchFamily="34" charset="-120"/>
              </a:rPr>
              <a:t>Confusion Matrix — All Models </a:t>
            </a:r>
            <a:endParaRPr lang="en-US" sz="3000" dirty="0"/>
          </a:p>
        </p:txBody>
      </p:sp>
      <p:sp>
        <p:nvSpPr>
          <p:cNvPr id="36" name="Text 34"/>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Calibri" pitchFamily="34" charset="0"/>
                <a:ea typeface="Calibri" pitchFamily="34" charset="-122"/>
                <a:cs typeface="Calibri" pitchFamily="34" charset="-120"/>
              </a:rPr>
              <a:t>15 / 20</a:t>
            </a:r>
            <a:endParaRPr lang="en-US" sz="900" dirty="0"/>
          </a:p>
        </p:txBody>
      </p:sp>
      <p:pic>
        <p:nvPicPr>
          <p:cNvPr id="38" name="Picture 37">
            <a:extLst>
              <a:ext uri="{FF2B5EF4-FFF2-40B4-BE49-F238E27FC236}">
                <a16:creationId xmlns:a16="http://schemas.microsoft.com/office/drawing/2014/main" id="{3DB37BC2-2527-2D03-B908-7EEBB9F67B71}"/>
              </a:ext>
            </a:extLst>
          </p:cNvPr>
          <p:cNvPicPr>
            <a:picLocks noChangeAspect="1"/>
          </p:cNvPicPr>
          <p:nvPr/>
        </p:nvPicPr>
        <p:blipFill>
          <a:blip r:embed="rId3"/>
          <a:stretch>
            <a:fillRect/>
          </a:stretch>
        </p:blipFill>
        <p:spPr>
          <a:xfrm>
            <a:off x="1734960" y="1216434"/>
            <a:ext cx="6768960" cy="54790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9554BC1-CF81-CE84-1EA5-6A836A800D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2CA208-EC84-A734-2942-2AB0BBCEAE07}"/>
              </a:ext>
            </a:extLst>
          </p:cNvPr>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Calibri" pitchFamily="34" charset="0"/>
                <a:ea typeface="Calibri" pitchFamily="34" charset="-122"/>
                <a:cs typeface="Calibri" pitchFamily="34" charset="-120"/>
              </a:rPr>
              <a:t>09 · RESULTS</a:t>
            </a:r>
            <a:endParaRPr lang="en-US" sz="1200" dirty="0"/>
          </a:p>
        </p:txBody>
      </p:sp>
      <p:sp>
        <p:nvSpPr>
          <p:cNvPr id="3" name="Text 1">
            <a:extLst>
              <a:ext uri="{FF2B5EF4-FFF2-40B4-BE49-F238E27FC236}">
                <a16:creationId xmlns:a16="http://schemas.microsoft.com/office/drawing/2014/main" id="{B2225DFE-D334-C7E3-B492-E754C0A32E44}"/>
              </a:ext>
            </a:extLst>
          </p:cNvPr>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Cambria" pitchFamily="34" charset="0"/>
                <a:ea typeface="Cambria" pitchFamily="34" charset="-122"/>
                <a:cs typeface="Cambria" pitchFamily="34" charset="-120"/>
              </a:rPr>
              <a:t>Confusion Matrix — Fine-Tuned ResNet50 (Best Model)</a:t>
            </a:r>
            <a:endParaRPr lang="en-US" sz="3000" dirty="0"/>
          </a:p>
        </p:txBody>
      </p:sp>
      <p:sp>
        <p:nvSpPr>
          <p:cNvPr id="35" name="Text 33">
            <a:extLst>
              <a:ext uri="{FF2B5EF4-FFF2-40B4-BE49-F238E27FC236}">
                <a16:creationId xmlns:a16="http://schemas.microsoft.com/office/drawing/2014/main" id="{D7309259-08DF-03C4-372D-E188239F478C}"/>
              </a:ext>
            </a:extLst>
          </p:cNvPr>
          <p:cNvSpPr/>
          <p:nvPr/>
        </p:nvSpPr>
        <p:spPr>
          <a:xfrm>
            <a:off x="457200" y="6547104"/>
            <a:ext cx="7315200" cy="256032"/>
          </a:xfrm>
          <a:prstGeom prst="rect">
            <a:avLst/>
          </a:prstGeom>
          <a:noFill/>
          <a:ln/>
        </p:spPr>
        <p:txBody>
          <a:bodyPr wrap="square" rtlCol="0" anchor="ctr"/>
          <a:lstStyle/>
          <a:p>
            <a:pPr marL="0" indent="0" algn="l">
              <a:buNone/>
            </a:pPr>
            <a:r>
              <a:rPr lang="en-US" sz="900" dirty="0">
                <a:solidFill>
                  <a:srgbClr val="6B6E85"/>
                </a:solidFill>
                <a:latin typeface="Calibri" pitchFamily="34" charset="0"/>
                <a:ea typeface="Calibri" pitchFamily="34" charset="-122"/>
                <a:cs typeface="Calibri" pitchFamily="34" charset="-120"/>
              </a:rPr>
              <a:t>Fine-Tuned ResNet50 for Skin Cancer Detection</a:t>
            </a:r>
            <a:endParaRPr lang="en-US" sz="900" dirty="0"/>
          </a:p>
        </p:txBody>
      </p:sp>
      <p:sp>
        <p:nvSpPr>
          <p:cNvPr id="36" name="Text 34">
            <a:extLst>
              <a:ext uri="{FF2B5EF4-FFF2-40B4-BE49-F238E27FC236}">
                <a16:creationId xmlns:a16="http://schemas.microsoft.com/office/drawing/2014/main" id="{EB93F1D6-DE63-DC2E-AA10-F0ED4B793EAA}"/>
              </a:ext>
            </a:extLst>
          </p:cNvPr>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Calibri" pitchFamily="34" charset="0"/>
                <a:ea typeface="Calibri" pitchFamily="34" charset="-122"/>
                <a:cs typeface="Calibri" pitchFamily="34" charset="-120"/>
              </a:rPr>
              <a:t>15 / 20</a:t>
            </a:r>
            <a:endParaRPr lang="en-US" sz="900" dirty="0"/>
          </a:p>
        </p:txBody>
      </p:sp>
      <p:pic>
        <p:nvPicPr>
          <p:cNvPr id="38" name="Picture 37">
            <a:extLst>
              <a:ext uri="{FF2B5EF4-FFF2-40B4-BE49-F238E27FC236}">
                <a16:creationId xmlns:a16="http://schemas.microsoft.com/office/drawing/2014/main" id="{60F4E09D-5848-091A-5548-8011D0372EB0}"/>
              </a:ext>
            </a:extLst>
          </p:cNvPr>
          <p:cNvPicPr>
            <a:picLocks noChangeAspect="1"/>
          </p:cNvPicPr>
          <p:nvPr/>
        </p:nvPicPr>
        <p:blipFill>
          <a:blip r:embed="rId3"/>
          <a:stretch>
            <a:fillRect/>
          </a:stretch>
        </p:blipFill>
        <p:spPr>
          <a:xfrm>
            <a:off x="457200" y="1693159"/>
            <a:ext cx="5184659" cy="4477521"/>
          </a:xfrm>
          <a:prstGeom prst="rect">
            <a:avLst/>
          </a:prstGeom>
        </p:spPr>
      </p:pic>
      <p:sp>
        <p:nvSpPr>
          <p:cNvPr id="40" name="Shape 21">
            <a:extLst>
              <a:ext uri="{FF2B5EF4-FFF2-40B4-BE49-F238E27FC236}">
                <a16:creationId xmlns:a16="http://schemas.microsoft.com/office/drawing/2014/main" id="{65A72A82-7D83-74CF-CBDB-871A068BECC0}"/>
              </a:ext>
            </a:extLst>
          </p:cNvPr>
          <p:cNvSpPr/>
          <p:nvPr/>
        </p:nvSpPr>
        <p:spPr>
          <a:xfrm>
            <a:off x="6903720" y="1965960"/>
            <a:ext cx="4754880" cy="896112"/>
          </a:xfrm>
          <a:prstGeom prst="roundRect">
            <a:avLst>
              <a:gd name="adj" fmla="val 8163"/>
            </a:avLst>
          </a:prstGeom>
          <a:solidFill>
            <a:srgbClr val="EEF3FC"/>
          </a:solidFill>
          <a:ln/>
        </p:spPr>
      </p:sp>
      <p:sp>
        <p:nvSpPr>
          <p:cNvPr id="42" name="Text 22">
            <a:extLst>
              <a:ext uri="{FF2B5EF4-FFF2-40B4-BE49-F238E27FC236}">
                <a16:creationId xmlns:a16="http://schemas.microsoft.com/office/drawing/2014/main" id="{26CCEC46-C8CA-C290-B123-B125D0C698D1}"/>
              </a:ext>
            </a:extLst>
          </p:cNvPr>
          <p:cNvSpPr/>
          <p:nvPr/>
        </p:nvSpPr>
        <p:spPr>
          <a:xfrm>
            <a:off x="7132320" y="2039112"/>
            <a:ext cx="1828800" cy="749808"/>
          </a:xfrm>
          <a:prstGeom prst="rect">
            <a:avLst/>
          </a:prstGeom>
          <a:noFill/>
          <a:ln/>
        </p:spPr>
        <p:txBody>
          <a:bodyPr wrap="square" rtlCol="0" anchor="ctr"/>
          <a:lstStyle/>
          <a:p>
            <a:pPr marL="0" indent="0">
              <a:buNone/>
            </a:pPr>
            <a:r>
              <a:rPr lang="en-US" sz="2600" b="1" dirty="0">
                <a:solidFill>
                  <a:srgbClr val="015F6B"/>
                </a:solidFill>
                <a:latin typeface="Cambria" pitchFamily="34" charset="0"/>
                <a:ea typeface="Cambria" pitchFamily="34" charset="-122"/>
                <a:cs typeface="Cambria" pitchFamily="34" charset="-120"/>
              </a:rPr>
              <a:t>92.33%</a:t>
            </a:r>
            <a:endParaRPr lang="en-US" sz="2600" dirty="0"/>
          </a:p>
        </p:txBody>
      </p:sp>
      <p:sp>
        <p:nvSpPr>
          <p:cNvPr id="44" name="Text 23">
            <a:extLst>
              <a:ext uri="{FF2B5EF4-FFF2-40B4-BE49-F238E27FC236}">
                <a16:creationId xmlns:a16="http://schemas.microsoft.com/office/drawing/2014/main" id="{0692CD83-2D9F-D5F8-2FDA-A92A350BB5D2}"/>
              </a:ext>
            </a:extLst>
          </p:cNvPr>
          <p:cNvSpPr/>
          <p:nvPr/>
        </p:nvSpPr>
        <p:spPr>
          <a:xfrm>
            <a:off x="9052560" y="1965960"/>
            <a:ext cx="2468880" cy="89611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Sensitivity (Recall)</a:t>
            </a:r>
            <a:endParaRPr lang="en-US" sz="1300" dirty="0"/>
          </a:p>
        </p:txBody>
      </p:sp>
      <p:sp>
        <p:nvSpPr>
          <p:cNvPr id="46" name="Shape 24">
            <a:extLst>
              <a:ext uri="{FF2B5EF4-FFF2-40B4-BE49-F238E27FC236}">
                <a16:creationId xmlns:a16="http://schemas.microsoft.com/office/drawing/2014/main" id="{A85B480F-A64F-1202-0E90-D5E225F8F192}"/>
              </a:ext>
            </a:extLst>
          </p:cNvPr>
          <p:cNvSpPr/>
          <p:nvPr/>
        </p:nvSpPr>
        <p:spPr>
          <a:xfrm>
            <a:off x="6903720" y="2999232"/>
            <a:ext cx="4754880" cy="896112"/>
          </a:xfrm>
          <a:prstGeom prst="roundRect">
            <a:avLst>
              <a:gd name="adj" fmla="val 8163"/>
            </a:avLst>
          </a:prstGeom>
          <a:solidFill>
            <a:srgbClr val="EEF3FC"/>
          </a:solidFill>
          <a:ln/>
        </p:spPr>
      </p:sp>
      <p:sp>
        <p:nvSpPr>
          <p:cNvPr id="48" name="Text 25">
            <a:extLst>
              <a:ext uri="{FF2B5EF4-FFF2-40B4-BE49-F238E27FC236}">
                <a16:creationId xmlns:a16="http://schemas.microsoft.com/office/drawing/2014/main" id="{35959545-BFA0-960D-494D-D9B27FBA3280}"/>
              </a:ext>
            </a:extLst>
          </p:cNvPr>
          <p:cNvSpPr/>
          <p:nvPr/>
        </p:nvSpPr>
        <p:spPr>
          <a:xfrm>
            <a:off x="7132320" y="3072384"/>
            <a:ext cx="1828800" cy="749808"/>
          </a:xfrm>
          <a:prstGeom prst="rect">
            <a:avLst/>
          </a:prstGeom>
          <a:noFill/>
          <a:ln/>
        </p:spPr>
        <p:txBody>
          <a:bodyPr wrap="square" rtlCol="0" anchor="ctr"/>
          <a:lstStyle/>
          <a:p>
            <a:pPr marL="0" indent="0">
              <a:buNone/>
            </a:pPr>
            <a:r>
              <a:rPr lang="en-US" sz="2600" b="1" dirty="0">
                <a:solidFill>
                  <a:srgbClr val="015F6B"/>
                </a:solidFill>
                <a:latin typeface="Cambria" pitchFamily="34" charset="0"/>
                <a:ea typeface="Cambria" pitchFamily="34" charset="-122"/>
                <a:cs typeface="Cambria" pitchFamily="34" charset="-120"/>
              </a:rPr>
              <a:t>89.72%</a:t>
            </a:r>
            <a:endParaRPr lang="en-US" sz="2600" dirty="0"/>
          </a:p>
        </p:txBody>
      </p:sp>
      <p:sp>
        <p:nvSpPr>
          <p:cNvPr id="50" name="Text 26">
            <a:extLst>
              <a:ext uri="{FF2B5EF4-FFF2-40B4-BE49-F238E27FC236}">
                <a16:creationId xmlns:a16="http://schemas.microsoft.com/office/drawing/2014/main" id="{2B4AF566-9C54-5F72-8AE9-A09819E47EA9}"/>
              </a:ext>
            </a:extLst>
          </p:cNvPr>
          <p:cNvSpPr/>
          <p:nvPr/>
        </p:nvSpPr>
        <p:spPr>
          <a:xfrm>
            <a:off x="9052560" y="2999232"/>
            <a:ext cx="2468880" cy="89611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Specificity</a:t>
            </a:r>
            <a:endParaRPr lang="en-US" sz="1300" dirty="0"/>
          </a:p>
        </p:txBody>
      </p:sp>
      <p:sp>
        <p:nvSpPr>
          <p:cNvPr id="52" name="Shape 27">
            <a:extLst>
              <a:ext uri="{FF2B5EF4-FFF2-40B4-BE49-F238E27FC236}">
                <a16:creationId xmlns:a16="http://schemas.microsoft.com/office/drawing/2014/main" id="{C3F28B9D-DD49-B545-82ED-19C2B383C91A}"/>
              </a:ext>
            </a:extLst>
          </p:cNvPr>
          <p:cNvSpPr/>
          <p:nvPr/>
        </p:nvSpPr>
        <p:spPr>
          <a:xfrm>
            <a:off x="6903720" y="4032504"/>
            <a:ext cx="4754880" cy="896112"/>
          </a:xfrm>
          <a:prstGeom prst="roundRect">
            <a:avLst>
              <a:gd name="adj" fmla="val 8163"/>
            </a:avLst>
          </a:prstGeom>
          <a:solidFill>
            <a:srgbClr val="EEF3FC"/>
          </a:solidFill>
          <a:ln/>
        </p:spPr>
      </p:sp>
      <p:sp>
        <p:nvSpPr>
          <p:cNvPr id="54" name="Text 28">
            <a:extLst>
              <a:ext uri="{FF2B5EF4-FFF2-40B4-BE49-F238E27FC236}">
                <a16:creationId xmlns:a16="http://schemas.microsoft.com/office/drawing/2014/main" id="{9A43D4E3-98EE-532F-F2C7-756920757883}"/>
              </a:ext>
            </a:extLst>
          </p:cNvPr>
          <p:cNvSpPr/>
          <p:nvPr/>
        </p:nvSpPr>
        <p:spPr>
          <a:xfrm>
            <a:off x="7132320" y="4105656"/>
            <a:ext cx="1828800" cy="749808"/>
          </a:xfrm>
          <a:prstGeom prst="rect">
            <a:avLst/>
          </a:prstGeom>
          <a:noFill/>
          <a:ln/>
        </p:spPr>
        <p:txBody>
          <a:bodyPr wrap="square" rtlCol="0" anchor="ctr"/>
          <a:lstStyle/>
          <a:p>
            <a:pPr marL="0" indent="0">
              <a:buNone/>
            </a:pPr>
            <a:r>
              <a:rPr lang="en-US" sz="2600" b="1" dirty="0">
                <a:solidFill>
                  <a:srgbClr val="015F6B"/>
                </a:solidFill>
                <a:latin typeface="Cambria" pitchFamily="34" charset="0"/>
                <a:ea typeface="Cambria" pitchFamily="34" charset="-122"/>
                <a:cs typeface="Cambria" pitchFamily="34" charset="-120"/>
              </a:rPr>
              <a:t>88.22%</a:t>
            </a:r>
            <a:endParaRPr lang="en-US" sz="2600" dirty="0"/>
          </a:p>
        </p:txBody>
      </p:sp>
      <p:sp>
        <p:nvSpPr>
          <p:cNvPr id="56" name="Text 29">
            <a:extLst>
              <a:ext uri="{FF2B5EF4-FFF2-40B4-BE49-F238E27FC236}">
                <a16:creationId xmlns:a16="http://schemas.microsoft.com/office/drawing/2014/main" id="{3D0D6A8D-8F52-EFAF-A8FE-1253F13236D8}"/>
              </a:ext>
            </a:extLst>
          </p:cNvPr>
          <p:cNvSpPr/>
          <p:nvPr/>
        </p:nvSpPr>
        <p:spPr>
          <a:xfrm>
            <a:off x="9052560" y="4032504"/>
            <a:ext cx="2468880" cy="89611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Precision</a:t>
            </a:r>
            <a:endParaRPr lang="en-US" sz="1300" dirty="0"/>
          </a:p>
        </p:txBody>
      </p:sp>
      <p:sp>
        <p:nvSpPr>
          <p:cNvPr id="58" name="Shape 30">
            <a:extLst>
              <a:ext uri="{FF2B5EF4-FFF2-40B4-BE49-F238E27FC236}">
                <a16:creationId xmlns:a16="http://schemas.microsoft.com/office/drawing/2014/main" id="{9D66B3A9-18B0-5B53-BEB5-1C19865D7A5F}"/>
              </a:ext>
            </a:extLst>
          </p:cNvPr>
          <p:cNvSpPr/>
          <p:nvPr/>
        </p:nvSpPr>
        <p:spPr>
          <a:xfrm>
            <a:off x="6903720" y="5065776"/>
            <a:ext cx="4754880" cy="896112"/>
          </a:xfrm>
          <a:prstGeom prst="roundRect">
            <a:avLst>
              <a:gd name="adj" fmla="val 8163"/>
            </a:avLst>
          </a:prstGeom>
          <a:solidFill>
            <a:srgbClr val="EEF3FC"/>
          </a:solidFill>
          <a:ln/>
        </p:spPr>
      </p:sp>
      <p:sp>
        <p:nvSpPr>
          <p:cNvPr id="60" name="Text 31">
            <a:extLst>
              <a:ext uri="{FF2B5EF4-FFF2-40B4-BE49-F238E27FC236}">
                <a16:creationId xmlns:a16="http://schemas.microsoft.com/office/drawing/2014/main" id="{76DF89D5-6385-A948-31F6-DEC32249E61F}"/>
              </a:ext>
            </a:extLst>
          </p:cNvPr>
          <p:cNvSpPr/>
          <p:nvPr/>
        </p:nvSpPr>
        <p:spPr>
          <a:xfrm>
            <a:off x="7132320" y="5138928"/>
            <a:ext cx="1828800" cy="749808"/>
          </a:xfrm>
          <a:prstGeom prst="rect">
            <a:avLst/>
          </a:prstGeom>
          <a:noFill/>
          <a:ln/>
        </p:spPr>
        <p:txBody>
          <a:bodyPr wrap="square" rtlCol="0" anchor="ctr"/>
          <a:lstStyle/>
          <a:p>
            <a:pPr marL="0" indent="0">
              <a:buNone/>
            </a:pPr>
            <a:r>
              <a:rPr lang="en-US" sz="2600" b="1" dirty="0">
                <a:solidFill>
                  <a:srgbClr val="015F6B"/>
                </a:solidFill>
                <a:latin typeface="Cambria" pitchFamily="34" charset="0"/>
                <a:ea typeface="Cambria" pitchFamily="34" charset="-122"/>
                <a:cs typeface="Cambria" pitchFamily="34" charset="-120"/>
              </a:rPr>
              <a:t>96.59%</a:t>
            </a:r>
            <a:endParaRPr lang="en-US" sz="2600" dirty="0"/>
          </a:p>
        </p:txBody>
      </p:sp>
      <p:sp>
        <p:nvSpPr>
          <p:cNvPr id="62" name="Text 32">
            <a:extLst>
              <a:ext uri="{FF2B5EF4-FFF2-40B4-BE49-F238E27FC236}">
                <a16:creationId xmlns:a16="http://schemas.microsoft.com/office/drawing/2014/main" id="{6C7266B9-B51B-9762-E5C1-BD557EA3DB12}"/>
              </a:ext>
            </a:extLst>
          </p:cNvPr>
          <p:cNvSpPr/>
          <p:nvPr/>
        </p:nvSpPr>
        <p:spPr>
          <a:xfrm>
            <a:off x="9052560" y="5065776"/>
            <a:ext cx="2468880" cy="89611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ROC-AUC</a:t>
            </a:r>
            <a:endParaRPr lang="en-US" sz="1300" dirty="0"/>
          </a:p>
        </p:txBody>
      </p:sp>
    </p:spTree>
    <p:extLst>
      <p:ext uri="{BB962C8B-B14F-4D97-AF65-F5344CB8AC3E}">
        <p14:creationId xmlns:p14="http://schemas.microsoft.com/office/powerpoint/2010/main" val="1984276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Calibri" pitchFamily="34" charset="0"/>
                <a:ea typeface="Calibri" pitchFamily="34" charset="-122"/>
                <a:cs typeface="Calibri" pitchFamily="34" charset="-120"/>
              </a:rPr>
              <a:t>09 · RESULTS</a:t>
            </a:r>
            <a:endParaRPr lang="en-US" sz="1200" dirty="0"/>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Cambria" pitchFamily="34" charset="0"/>
                <a:ea typeface="Cambria" pitchFamily="34" charset="-122"/>
                <a:cs typeface="Cambria" pitchFamily="34" charset="-120"/>
              </a:rPr>
              <a:t>Performance Across All Evaluated Models</a:t>
            </a:r>
            <a:endParaRPr lang="en-US" sz="3000" dirty="0"/>
          </a:p>
        </p:txBody>
      </p:sp>
      <p:graphicFrame>
        <p:nvGraphicFramePr>
          <p:cNvPr id="4" name="Chart 0"/>
          <p:cNvGraphicFramePr/>
          <p:nvPr>
            <p:extLst>
              <p:ext uri="{D42A27DB-BD31-4B8C-83A1-F6EECF244321}">
                <p14:modId xmlns:p14="http://schemas.microsoft.com/office/powerpoint/2010/main" val="689124033"/>
              </p:ext>
            </p:extLst>
          </p:nvPr>
        </p:nvGraphicFramePr>
        <p:xfrm>
          <a:off x="365760" y="1691640"/>
          <a:ext cx="11475720" cy="4709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09 · BENCHMARKING</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Comparison with Published State-of-the-Art</a:t>
            </a:r>
            <a:endParaRPr lang="en-US" sz="3000" dirty="0">
              <a:latin typeface="Times New Roman" panose="02020603050405020304" pitchFamily="18" charset="0"/>
              <a:cs typeface="Times New Roman" panose="02020603050405020304" pitchFamily="18" charset="0"/>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4023360"/>
        </p:xfrm>
        <a:graphic>
          <a:graphicData uri="http://schemas.openxmlformats.org/drawingml/2006/table">
            <a:tbl>
              <a:tblPr/>
              <a:tblGrid>
                <a:gridCol w="16002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50292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Author &amp; Ref.</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Year</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Model / Method</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Acc. (%)</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Sens. (%)</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02920">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Farooq et al.</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2020</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InceptionV3</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86.00</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89.00</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Ismail et al.</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ResNet</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75.31</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Kartal &amp; Polat</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2022</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ResNet152</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88.79</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87.71</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Hussein et al.</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2023</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SqueezeNet</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85.90</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80.33</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Bazgir et al.</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2024</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Inception Network</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85.94</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86.89</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Belabbaci et al.</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2025</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250" dirty="0">
                          <a:solidFill>
                            <a:srgbClr val="222436"/>
                          </a:solidFill>
                          <a:latin typeface="Calibri" pitchFamily="34" charset="0"/>
                          <a:ea typeface="Calibri" pitchFamily="34" charset="-122"/>
                          <a:cs typeface="Calibri" pitchFamily="34" charset="-120"/>
                        </a:rPr>
                        <a:t>DarkNet53 + WPCA + RF</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88.01</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22436"/>
                          </a:solidFill>
                          <a:latin typeface="Calibri" pitchFamily="34" charset="0"/>
                          <a:ea typeface="Calibri" pitchFamily="34" charset="-122"/>
                          <a:cs typeface="Calibri" pitchFamily="34" charset="-120"/>
                        </a:rPr>
                        <a:t>87.69</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Proposed</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15F6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2026</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15F6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Fine-tuned ResNet50</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15F6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90.91</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15F6B"/>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92.33</a:t>
                      </a:r>
                      <a:endParaRPr lang="en-US" sz="125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15F6B"/>
                    </a:solidFill>
                  </a:tcPr>
                </a:tc>
                <a:extLst>
                  <a:ext uri="{0D108BD9-81ED-4DB2-BD59-A6C34878D82A}">
                    <a16:rowId xmlns:a16="http://schemas.microsoft.com/office/drawing/2014/main" val="10007"/>
                  </a:ext>
                </a:extLst>
              </a:tr>
            </a:tbl>
          </a:graphicData>
        </a:graphic>
      </p:graphicFrame>
      <p:sp>
        <p:nvSpPr>
          <p:cNvPr id="5" name="Shape 2"/>
          <p:cNvSpPr/>
          <p:nvPr/>
        </p:nvSpPr>
        <p:spPr>
          <a:xfrm>
            <a:off x="7818120" y="1737360"/>
            <a:ext cx="3840480" cy="3931920"/>
          </a:xfrm>
          <a:prstGeom prst="roundRect">
            <a:avLst>
              <a:gd name="adj" fmla="val 2143"/>
            </a:avLst>
          </a:prstGeom>
          <a:solidFill>
            <a:srgbClr val="EEF3FC"/>
          </a:solidFill>
          <a:ln/>
        </p:spPr>
      </p:sp>
      <p:sp>
        <p:nvSpPr>
          <p:cNvPr id="6" name="Text 3"/>
          <p:cNvSpPr/>
          <p:nvPr/>
        </p:nvSpPr>
        <p:spPr>
          <a:xfrm>
            <a:off x="8046720" y="1920240"/>
            <a:ext cx="3383280" cy="274320"/>
          </a:xfrm>
          <a:prstGeom prst="rect">
            <a:avLst/>
          </a:prstGeom>
          <a:noFill/>
          <a:ln/>
        </p:spPr>
        <p:txBody>
          <a:bodyPr wrap="square" rtlCol="0" anchor="ctr"/>
          <a:lstStyle/>
          <a:p>
            <a:pPr marL="0" indent="0">
              <a:buNone/>
            </a:pPr>
            <a:r>
              <a:rPr lang="en-US" sz="1100" b="1" kern="0" spc="100" dirty="0">
                <a:solidFill>
                  <a:srgbClr val="015F6B"/>
                </a:solidFill>
                <a:latin typeface="Times New Roman" panose="02020603050405020304" pitchFamily="18" charset="0"/>
                <a:ea typeface="Calibri" pitchFamily="34" charset="-122"/>
                <a:cs typeface="Times New Roman" panose="02020603050405020304" pitchFamily="18" charset="0"/>
              </a:rPr>
              <a:t>Reference Benchmark</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8046720" y="2194560"/>
            <a:ext cx="3383280" cy="32004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Cambria" pitchFamily="34" charset="-122"/>
                <a:cs typeface="Times New Roman" panose="02020603050405020304" pitchFamily="18" charset="0"/>
              </a:rPr>
              <a:t>DarkNet53 + WPCA + RF</a:t>
            </a:r>
            <a:endParaRPr lang="en-US" sz="1600" dirty="0">
              <a:latin typeface="Times New Roman" panose="02020603050405020304" pitchFamily="18" charset="0"/>
              <a:cs typeface="Times New Roman" panose="02020603050405020304" pitchFamily="18" charset="0"/>
            </a:endParaRPr>
          </a:p>
        </p:txBody>
      </p:sp>
      <p:sp>
        <p:nvSpPr>
          <p:cNvPr id="8" name="Text 5"/>
          <p:cNvSpPr/>
          <p:nvPr/>
        </p:nvSpPr>
        <p:spPr>
          <a:xfrm>
            <a:off x="8046720" y="2542032"/>
            <a:ext cx="3383280" cy="365760"/>
          </a:xfrm>
          <a:prstGeom prst="rect">
            <a:avLst/>
          </a:prstGeom>
          <a:noFill/>
          <a:ln/>
        </p:spPr>
        <p:txBody>
          <a:bodyPr wrap="square" rtlCol="0" anchor="ctr"/>
          <a:lstStyle/>
          <a:p>
            <a:pPr marL="0" indent="0">
              <a:buNone/>
            </a:pPr>
            <a:r>
              <a:rPr lang="en-US" sz="1200" dirty="0">
                <a:solidFill>
                  <a:srgbClr val="222436"/>
                </a:solidFill>
                <a:latin typeface="Times New Roman" panose="02020603050405020304" pitchFamily="18" charset="0"/>
                <a:ea typeface="Calibri" pitchFamily="34" charset="-122"/>
                <a:cs typeface="Times New Roman" panose="02020603050405020304" pitchFamily="18" charset="0"/>
              </a:rPr>
              <a:t>88.01% Accuracy  ·  87.69% Sensitivity</a:t>
            </a:r>
            <a:endParaRPr lang="en-US" sz="1200" dirty="0">
              <a:latin typeface="Times New Roman" panose="02020603050405020304" pitchFamily="18" charset="0"/>
              <a:cs typeface="Times New Roman" panose="02020603050405020304" pitchFamily="18" charset="0"/>
            </a:endParaRPr>
          </a:p>
        </p:txBody>
      </p:sp>
      <p:sp>
        <p:nvSpPr>
          <p:cNvPr id="9" name="Shape 6"/>
          <p:cNvSpPr/>
          <p:nvPr/>
        </p:nvSpPr>
        <p:spPr>
          <a:xfrm>
            <a:off x="8046720" y="3063240"/>
            <a:ext cx="3383280" cy="0"/>
          </a:xfrm>
          <a:prstGeom prst="line">
            <a:avLst/>
          </a:prstGeom>
          <a:noFill/>
          <a:ln w="12700">
            <a:solidFill>
              <a:srgbClr val="CADCFC"/>
            </a:solidFill>
            <a:prstDash val="solid"/>
          </a:ln>
        </p:spPr>
      </p:sp>
      <p:sp>
        <p:nvSpPr>
          <p:cNvPr id="10" name="Text 7"/>
          <p:cNvSpPr/>
          <p:nvPr/>
        </p:nvSpPr>
        <p:spPr>
          <a:xfrm>
            <a:off x="8046720" y="3200400"/>
            <a:ext cx="3383280" cy="274320"/>
          </a:xfrm>
          <a:prstGeom prst="rect">
            <a:avLst/>
          </a:prstGeom>
          <a:noFill/>
          <a:ln/>
        </p:spPr>
        <p:txBody>
          <a:bodyPr wrap="square" rtlCol="0" anchor="ctr"/>
          <a:lstStyle/>
          <a:p>
            <a:pPr marL="0" indent="0">
              <a:buNone/>
            </a:pPr>
            <a:r>
              <a:rPr lang="en-US" sz="1100" b="1" kern="0" spc="100" dirty="0">
                <a:solidFill>
                  <a:srgbClr val="015F6B"/>
                </a:solidFill>
                <a:latin typeface="Times New Roman" panose="02020603050405020304" pitchFamily="18" charset="0"/>
                <a:ea typeface="Calibri" pitchFamily="34" charset="-122"/>
                <a:cs typeface="Times New Roman" panose="02020603050405020304" pitchFamily="18" charset="0"/>
              </a:rPr>
              <a:t>Proposed</a:t>
            </a:r>
            <a:endParaRPr lang="en-US" sz="1100" dirty="0">
              <a:latin typeface="Times New Roman" panose="02020603050405020304" pitchFamily="18" charset="0"/>
              <a:cs typeface="Times New Roman" panose="02020603050405020304" pitchFamily="18" charset="0"/>
            </a:endParaRPr>
          </a:p>
        </p:txBody>
      </p:sp>
      <p:sp>
        <p:nvSpPr>
          <p:cNvPr id="11" name="Text 8"/>
          <p:cNvSpPr/>
          <p:nvPr/>
        </p:nvSpPr>
        <p:spPr>
          <a:xfrm>
            <a:off x="8046720" y="3474720"/>
            <a:ext cx="3383280" cy="32004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Cambria" pitchFamily="34" charset="-122"/>
                <a:cs typeface="Times New Roman" panose="02020603050405020304" pitchFamily="18" charset="0"/>
              </a:rPr>
              <a:t>Fine-tuned ResNet50</a:t>
            </a:r>
            <a:endParaRPr lang="en-US" sz="1600" dirty="0">
              <a:latin typeface="Times New Roman" panose="02020603050405020304" pitchFamily="18" charset="0"/>
              <a:cs typeface="Times New Roman" panose="02020603050405020304" pitchFamily="18" charset="0"/>
            </a:endParaRPr>
          </a:p>
        </p:txBody>
      </p:sp>
      <p:sp>
        <p:nvSpPr>
          <p:cNvPr id="12" name="Text 9"/>
          <p:cNvSpPr/>
          <p:nvPr/>
        </p:nvSpPr>
        <p:spPr>
          <a:xfrm>
            <a:off x="8046720" y="3822192"/>
            <a:ext cx="3383280" cy="365760"/>
          </a:xfrm>
          <a:prstGeom prst="rect">
            <a:avLst/>
          </a:prstGeom>
          <a:noFill/>
          <a:ln/>
        </p:spPr>
        <p:txBody>
          <a:bodyPr wrap="square" rtlCol="0" anchor="ctr"/>
          <a:lstStyle/>
          <a:p>
            <a:pPr marL="0" indent="0">
              <a:buNone/>
            </a:pPr>
            <a:r>
              <a:rPr lang="en-US" sz="1200" dirty="0">
                <a:solidFill>
                  <a:srgbClr val="222436"/>
                </a:solidFill>
                <a:latin typeface="Times New Roman" panose="02020603050405020304" pitchFamily="18" charset="0"/>
                <a:ea typeface="Calibri" pitchFamily="34" charset="-122"/>
                <a:cs typeface="Times New Roman" panose="02020603050405020304" pitchFamily="18" charset="0"/>
              </a:rPr>
              <a:t>90.91% Accuracy  ·  92.33% Sensitivity</a:t>
            </a:r>
            <a:endParaRPr lang="en-US" sz="1200" dirty="0">
              <a:latin typeface="Times New Roman" panose="02020603050405020304" pitchFamily="18" charset="0"/>
              <a:cs typeface="Times New Roman" panose="02020603050405020304" pitchFamily="18" charset="0"/>
            </a:endParaRPr>
          </a:p>
        </p:txBody>
      </p:sp>
      <p:sp>
        <p:nvSpPr>
          <p:cNvPr id="13" name="Shape 10"/>
          <p:cNvSpPr/>
          <p:nvPr/>
        </p:nvSpPr>
        <p:spPr>
          <a:xfrm>
            <a:off x="8046720" y="4343400"/>
            <a:ext cx="3383280" cy="1097280"/>
          </a:xfrm>
          <a:prstGeom prst="roundRect">
            <a:avLst>
              <a:gd name="adj" fmla="val 6667"/>
            </a:avLst>
          </a:prstGeom>
          <a:solidFill>
            <a:srgbClr val="1E2761"/>
          </a:solidFill>
          <a:ln/>
        </p:spPr>
      </p:sp>
      <p:sp>
        <p:nvSpPr>
          <p:cNvPr id="14" name="Text 11"/>
          <p:cNvSpPr/>
          <p:nvPr/>
        </p:nvSpPr>
        <p:spPr>
          <a:xfrm>
            <a:off x="8046720" y="4434840"/>
            <a:ext cx="3383280" cy="502920"/>
          </a:xfrm>
          <a:prstGeom prst="rect">
            <a:avLst/>
          </a:prstGeom>
          <a:noFill/>
          <a:ln/>
        </p:spPr>
        <p:txBody>
          <a:bodyPr wrap="square" rtlCol="0" anchor="ctr"/>
          <a:lstStyle/>
          <a:p>
            <a:pPr marL="0" indent="0" algn="ctr">
              <a:buNone/>
            </a:pPr>
            <a:r>
              <a:rPr lang="en-US" sz="2600" b="1" dirty="0">
                <a:solidFill>
                  <a:srgbClr val="FFFFFF"/>
                </a:solidFill>
                <a:latin typeface="Times New Roman" panose="02020603050405020304" pitchFamily="18" charset="0"/>
                <a:ea typeface="Cambria" pitchFamily="34" charset="-122"/>
                <a:cs typeface="Times New Roman" panose="02020603050405020304" pitchFamily="18" charset="0"/>
              </a:rPr>
              <a:t>+2.90 pp</a:t>
            </a:r>
            <a:endParaRPr lang="en-US" sz="2600" dirty="0">
              <a:latin typeface="Times New Roman" panose="02020603050405020304" pitchFamily="18" charset="0"/>
              <a:cs typeface="Times New Roman" panose="02020603050405020304" pitchFamily="18" charset="0"/>
            </a:endParaRPr>
          </a:p>
        </p:txBody>
      </p:sp>
      <p:sp>
        <p:nvSpPr>
          <p:cNvPr id="15" name="Text 12"/>
          <p:cNvSpPr/>
          <p:nvPr/>
        </p:nvSpPr>
        <p:spPr>
          <a:xfrm>
            <a:off x="8183880" y="4937760"/>
            <a:ext cx="3108960" cy="457200"/>
          </a:xfrm>
          <a:prstGeom prst="rect">
            <a:avLst/>
          </a:prstGeom>
          <a:noFill/>
          <a:ln/>
        </p:spPr>
        <p:txBody>
          <a:bodyPr wrap="square" rtlCol="0" anchor="ctr"/>
          <a:lstStyle/>
          <a:p>
            <a:pPr marL="0" indent="0" algn="ctr">
              <a:buNone/>
            </a:pPr>
            <a:r>
              <a:rPr lang="en-US" sz="1050" dirty="0">
                <a:solidFill>
                  <a:srgbClr val="CADCFC"/>
                </a:solidFill>
                <a:latin typeface="Times New Roman" panose="02020603050405020304" pitchFamily="18" charset="0"/>
                <a:ea typeface="Calibri" pitchFamily="34" charset="-122"/>
                <a:cs typeface="Times New Roman" panose="02020603050405020304" pitchFamily="18" charset="0"/>
              </a:rPr>
              <a:t>Accuracy improvement over strongest published baseline</a:t>
            </a:r>
            <a:endParaRPr lang="en-US" sz="1050" dirty="0">
              <a:latin typeface="Times New Roman" panose="02020603050405020304" pitchFamily="18" charset="0"/>
              <a:cs typeface="Times New Roman" panose="02020603050405020304" pitchFamily="18" charset="0"/>
            </a:endParaRPr>
          </a:p>
        </p:txBody>
      </p:sp>
      <p:sp>
        <p:nvSpPr>
          <p:cNvPr id="17" name="Text 14"/>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17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09 · BENCHMARKING</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Gain Over the Reference Framework</a:t>
            </a:r>
            <a:endParaRPr lang="en-US" sz="3000" dirty="0">
              <a:latin typeface="Times New Roman" panose="02020603050405020304" pitchFamily="18" charset="0"/>
              <a:cs typeface="Times New Roman" panose="02020603050405020304" pitchFamily="18" charset="0"/>
            </a:endParaRPr>
          </a:p>
        </p:txBody>
      </p:sp>
      <p:graphicFrame>
        <p:nvGraphicFramePr>
          <p:cNvPr id="19" name="Table 0"/>
          <p:cNvGraphicFramePr>
            <a:graphicFrameLocks noGrp="1"/>
          </p:cNvGraphicFramePr>
          <p:nvPr>
            <p:extLst>
              <p:ext uri="{D42A27DB-BD31-4B8C-83A1-F6EECF244321}">
                <p14:modId xmlns:p14="http://schemas.microsoft.com/office/powerpoint/2010/main" val="1018768216"/>
              </p:ext>
            </p:extLst>
          </p:nvPr>
        </p:nvGraphicFramePr>
        <p:xfrm>
          <a:off x="548640" y="1783080"/>
          <a:ext cx="5394960" cy="3072384"/>
        </p:xfrm>
        <a:graphic>
          <a:graphicData uri="http://schemas.openxmlformats.org/drawingml/2006/table">
            <a:tbl>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512064">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Reference (%)</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Proposed (%)</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Gain (pp)</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2064">
                <a:tc>
                  <a:txBody>
                    <a:bodyPr/>
                    <a:lstStyle/>
                    <a:p>
                      <a:pPr marL="0" indent="0">
                        <a:buNone/>
                      </a:pPr>
                      <a:r>
                        <a:rPr lang="en-US" sz="1300" b="1" dirty="0">
                          <a:solidFill>
                            <a:srgbClr val="222436"/>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dirty="0">
                          <a:solidFill>
                            <a:srgbClr val="222436"/>
                          </a:solidFill>
                          <a:latin typeface="Calibri" pitchFamily="34" charset="0"/>
                          <a:ea typeface="Calibri" pitchFamily="34" charset="-122"/>
                          <a:cs typeface="Calibri" pitchFamily="34" charset="-120"/>
                        </a:rPr>
                        <a:t>88.01</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015F6B"/>
                          </a:solidFill>
                          <a:latin typeface="Calibri" pitchFamily="34" charset="0"/>
                          <a:ea typeface="Calibri" pitchFamily="34" charset="-122"/>
                          <a:cs typeface="Calibri" pitchFamily="34" charset="-120"/>
                        </a:rPr>
                        <a:t>90.91</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+2.90</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1"/>
                  </a:ext>
                </a:extLst>
              </a:tr>
              <a:tr h="512064">
                <a:tc>
                  <a:txBody>
                    <a:bodyPr/>
                    <a:lstStyle/>
                    <a:p>
                      <a:pPr marL="0" indent="0">
                        <a:buNone/>
                      </a:pPr>
                      <a:r>
                        <a:rPr lang="en-US" sz="1300" b="1" dirty="0">
                          <a:solidFill>
                            <a:srgbClr val="222436"/>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dirty="0">
                          <a:solidFill>
                            <a:srgbClr val="222436"/>
                          </a:solidFill>
                          <a:latin typeface="Calibri" pitchFamily="34" charset="0"/>
                          <a:ea typeface="Calibri" pitchFamily="34" charset="-122"/>
                          <a:cs typeface="Calibri" pitchFamily="34" charset="-120"/>
                        </a:rPr>
                        <a:t>88.10</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015F6B"/>
                          </a:solidFill>
                          <a:latin typeface="Calibri" pitchFamily="34" charset="0"/>
                          <a:ea typeface="Calibri" pitchFamily="34" charset="-122"/>
                          <a:cs typeface="Calibri" pitchFamily="34" charset="-120"/>
                        </a:rPr>
                        <a:t>88.22</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2"/>
                  </a:ext>
                </a:extLst>
              </a:tr>
              <a:tr h="512064">
                <a:tc>
                  <a:txBody>
                    <a:bodyPr/>
                    <a:lstStyle/>
                    <a:p>
                      <a:pPr marL="0" indent="0">
                        <a:buNone/>
                      </a:pPr>
                      <a:r>
                        <a:rPr lang="en-US" sz="1300" b="1" dirty="0">
                          <a:solidFill>
                            <a:srgbClr val="222436"/>
                          </a:solidFill>
                          <a:latin typeface="Calibri" pitchFamily="34" charset="0"/>
                          <a:ea typeface="Calibri" pitchFamily="34" charset="-122"/>
                          <a:cs typeface="Calibri" pitchFamily="34" charset="-120"/>
                        </a:rPr>
                        <a:t>Sensitivity</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dirty="0">
                          <a:solidFill>
                            <a:srgbClr val="222436"/>
                          </a:solidFill>
                          <a:latin typeface="Calibri" pitchFamily="34" charset="0"/>
                          <a:ea typeface="Calibri" pitchFamily="34" charset="-122"/>
                          <a:cs typeface="Calibri" pitchFamily="34" charset="-120"/>
                        </a:rPr>
                        <a:t>87.69</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015F6B"/>
                          </a:solidFill>
                          <a:latin typeface="Calibri" pitchFamily="34" charset="0"/>
                          <a:ea typeface="Calibri" pitchFamily="34" charset="-122"/>
                          <a:cs typeface="Calibri" pitchFamily="34" charset="-120"/>
                        </a:rPr>
                        <a:t>92.33</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+4.64</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3"/>
                  </a:ext>
                </a:extLst>
              </a:tr>
              <a:tr h="512064">
                <a:tc>
                  <a:txBody>
                    <a:bodyPr/>
                    <a:lstStyle/>
                    <a:p>
                      <a:pPr marL="0" indent="0">
                        <a:buNone/>
                      </a:pPr>
                      <a:r>
                        <a:rPr lang="en-US" sz="1300" b="1" dirty="0">
                          <a:solidFill>
                            <a:srgbClr val="222436"/>
                          </a:solidFill>
                          <a:latin typeface="Calibri" pitchFamily="34" charset="0"/>
                          <a:ea typeface="Calibri" pitchFamily="34" charset="-122"/>
                          <a:cs typeface="Calibri" pitchFamily="34" charset="-120"/>
                        </a:rPr>
                        <a:t>Specificity</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dirty="0">
                          <a:solidFill>
                            <a:srgbClr val="222436"/>
                          </a:solidFill>
                          <a:latin typeface="Calibri" pitchFamily="34" charset="0"/>
                          <a:ea typeface="Calibri" pitchFamily="34" charset="-122"/>
                          <a:cs typeface="Calibri" pitchFamily="34" charset="-120"/>
                        </a:rPr>
                        <a:t>88.09</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015F6B"/>
                          </a:solidFill>
                          <a:latin typeface="Calibri" pitchFamily="34" charset="0"/>
                          <a:ea typeface="Calibri" pitchFamily="34" charset="-122"/>
                          <a:cs typeface="Calibri" pitchFamily="34" charset="-120"/>
                        </a:rPr>
                        <a:t>89.72</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+1.63</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4"/>
                  </a:ext>
                </a:extLst>
              </a:tr>
              <a:tr h="512064">
                <a:tc>
                  <a:txBody>
                    <a:bodyPr/>
                    <a:lstStyle/>
                    <a:p>
                      <a:pPr marL="0" indent="0">
                        <a:buNone/>
                      </a:pPr>
                      <a:r>
                        <a:rPr lang="en-US" sz="1300" b="1" dirty="0">
                          <a:solidFill>
                            <a:srgbClr val="222436"/>
                          </a:solidFill>
                          <a:latin typeface="Calibri" pitchFamily="34" charset="0"/>
                          <a:ea typeface="Calibri" pitchFamily="34" charset="-122"/>
                          <a:cs typeface="Calibri" pitchFamily="34" charset="-120"/>
                        </a:rPr>
                        <a:t>F1-score</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dirty="0">
                          <a:solidFill>
                            <a:srgbClr val="222436"/>
                          </a:solidFill>
                          <a:latin typeface="Calibri" pitchFamily="34" charset="0"/>
                          <a:ea typeface="Calibri" pitchFamily="34" charset="-122"/>
                          <a:cs typeface="Calibri" pitchFamily="34" charset="-120"/>
                        </a:rPr>
                        <a:t>87.85</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015F6B"/>
                          </a:solidFill>
                          <a:latin typeface="Calibri" pitchFamily="34" charset="0"/>
                          <a:ea typeface="Calibri" pitchFamily="34" charset="-122"/>
                          <a:cs typeface="Calibri" pitchFamily="34" charset="-120"/>
                        </a:rPr>
                        <a:t>90.23</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+2.38</a:t>
                      </a:r>
                      <a:endParaRPr lang="en-US" sz="1300" dirty="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5"/>
                  </a:ext>
                </a:extLst>
              </a:tr>
            </a:tbl>
          </a:graphicData>
        </a:graphic>
      </p:graphicFrame>
      <p:graphicFrame>
        <p:nvGraphicFramePr>
          <p:cNvPr id="5" name="Chart 0"/>
          <p:cNvGraphicFramePr/>
          <p:nvPr>
            <p:extLst>
              <p:ext uri="{D42A27DB-BD31-4B8C-83A1-F6EECF244321}">
                <p14:modId xmlns:p14="http://schemas.microsoft.com/office/powerpoint/2010/main" val="3353141101"/>
              </p:ext>
            </p:extLst>
          </p:nvPr>
        </p:nvGraphicFramePr>
        <p:xfrm>
          <a:off x="6263640" y="1783080"/>
          <a:ext cx="53949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548640" y="4937760"/>
            <a:ext cx="5394960" cy="1097280"/>
          </a:xfrm>
          <a:prstGeom prst="rect">
            <a:avLst/>
          </a:prstGeom>
          <a:noFill/>
          <a:ln/>
        </p:spPr>
        <p:txBody>
          <a:bodyPr wrap="square" rtlCol="0" anchor="ctr"/>
          <a:lstStyle/>
          <a:p>
            <a:pPr marL="0" indent="0">
              <a:lnSpc>
                <a:spcPts val="1500"/>
              </a:lnSpc>
              <a:buNone/>
            </a:pPr>
            <a:r>
              <a:rPr lang="en-US" sz="1150" b="1" i="1" dirty="0">
                <a:latin typeface="Times New Roman" panose="02020603050405020304" pitchFamily="18" charset="0"/>
                <a:ea typeface="Calibri" pitchFamily="34" charset="-122"/>
                <a:cs typeface="Times New Roman" panose="02020603050405020304" pitchFamily="18" charset="0"/>
              </a:rPr>
              <a:t>ROC-AUC is omitted from this comparison — the reference study does not report an AUC value for its final DarkNet53 + WPCA + RF configuration.</a:t>
            </a:r>
            <a:endParaRPr lang="en-US" sz="1150" b="1" dirty="0">
              <a:latin typeface="Times New Roman" panose="02020603050405020304" pitchFamily="18" charset="0"/>
              <a:cs typeface="Times New Roman" panose="02020603050405020304" pitchFamily="18" charset="0"/>
            </a:endParaRPr>
          </a:p>
        </p:txBody>
      </p:sp>
      <p:sp>
        <p:nvSpPr>
          <p:cNvPr id="8" name="Text 4"/>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18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10515600" cy="274320"/>
          </a:xfrm>
          <a:prstGeom prst="rect">
            <a:avLst/>
          </a:prstGeom>
          <a:noFill/>
          <a:ln/>
        </p:spPr>
        <p:txBody>
          <a:bodyPr wrap="square" rtlCol="0" anchor="ctr"/>
          <a:lstStyle/>
          <a:p>
            <a:pPr marL="0" indent="0">
              <a:buNone/>
            </a:pPr>
            <a:r>
              <a:rPr lang="en-US" sz="1200" b="1" kern="0" spc="200" dirty="0">
                <a:solidFill>
                  <a:srgbClr val="015F6B"/>
                </a:solidFill>
                <a:latin typeface="Times New Roman" panose="02020603050405020304" pitchFamily="18" charset="0"/>
                <a:ea typeface="Calibri" pitchFamily="34" charset="-122"/>
                <a:cs typeface="Times New Roman" panose="02020603050405020304" pitchFamily="18" charset="0"/>
              </a:rPr>
              <a:t>10 · CONCLUSION</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03504"/>
            <a:ext cx="11064240" cy="713232"/>
          </a:xfrm>
          <a:prstGeom prst="rect">
            <a:avLst/>
          </a:prstGeom>
          <a:noFill/>
          <a:ln/>
        </p:spPr>
        <p:txBody>
          <a:bodyPr wrap="square" rtlCol="0" anchor="t"/>
          <a:lstStyle/>
          <a:p>
            <a:pPr marL="0" indent="0">
              <a:buNone/>
            </a:pPr>
            <a:r>
              <a:rPr lang="en-US" sz="3000" b="1" dirty="0">
                <a:solidFill>
                  <a:srgbClr val="1E2761"/>
                </a:solidFill>
                <a:latin typeface="Times New Roman" panose="02020603050405020304" pitchFamily="18" charset="0"/>
                <a:ea typeface="Cambria" pitchFamily="34" charset="-122"/>
                <a:cs typeface="Times New Roman" panose="02020603050405020304" pitchFamily="18" charset="0"/>
              </a:rPr>
              <a:t>Key Contributions &amp; Takeaways</a:t>
            </a:r>
            <a:endParaRPr lang="en-US" sz="3000" dirty="0">
              <a:latin typeface="Times New Roman" panose="02020603050405020304" pitchFamily="18" charset="0"/>
              <a:cs typeface="Times New Roman" panose="02020603050405020304" pitchFamily="18" charset="0"/>
            </a:endParaRPr>
          </a:p>
        </p:txBody>
      </p:sp>
      <p:sp>
        <p:nvSpPr>
          <p:cNvPr id="4" name="Text 2"/>
          <p:cNvSpPr/>
          <p:nvPr/>
        </p:nvSpPr>
        <p:spPr>
          <a:xfrm>
            <a:off x="548640" y="1691640"/>
            <a:ext cx="6492240" cy="3317240"/>
          </a:xfrm>
          <a:prstGeom prst="rect">
            <a:avLst/>
          </a:prstGeom>
          <a:noFill/>
          <a:ln/>
        </p:spPr>
        <p:txBody>
          <a:bodyPr wrap="square" rtlCol="0" anchor="t"/>
          <a:lstStyle/>
          <a:p>
            <a:pPr marL="342900" indent="-342900">
              <a:lnSpc>
                <a:spcPts val="2000"/>
              </a:lnSpc>
              <a:spcAft>
                <a:spcPts val="1400"/>
              </a:spcAft>
              <a:buSzPct val="100000"/>
              <a:buChar char="●"/>
            </a:pPr>
            <a:r>
              <a:rPr lang="en-US" sz="1600" dirty="0">
                <a:latin typeface="Times New Roman" panose="02020603050405020304" pitchFamily="18" charset="0"/>
                <a:cs typeface="Times New Roman" panose="02020603050405020304" pitchFamily="18" charset="0"/>
              </a:rPr>
              <a:t>Compared four pretrained CNN models (</a:t>
            </a:r>
            <a:r>
              <a:rPr lang="en-US" sz="1450" dirty="0">
                <a:solidFill>
                  <a:srgbClr val="222436"/>
                </a:solidFill>
                <a:latin typeface="Times New Roman" panose="02020603050405020304" pitchFamily="18" charset="0"/>
                <a:ea typeface="Calibri" pitchFamily="34" charset="-122"/>
                <a:cs typeface="Times New Roman" panose="02020603050405020304" pitchFamily="18" charset="0"/>
              </a:rPr>
              <a:t>ResNet50, DenseNet121, MobileNetV2, EfficientNet-B4) </a:t>
            </a:r>
            <a:r>
              <a:rPr lang="en-US" sz="1400" dirty="0">
                <a:latin typeface="Times New Roman" panose="02020603050405020304" pitchFamily="18" charset="0"/>
                <a:cs typeface="Times New Roman" panose="02020603050405020304" pitchFamily="18" charset="0"/>
              </a:rPr>
              <a:t>under the same 300×300 input setting.</a:t>
            </a:r>
            <a:endParaRPr lang="en-US" sz="1400" dirty="0">
              <a:solidFill>
                <a:srgbClr val="222436"/>
              </a:solidFill>
              <a:latin typeface="Times New Roman" panose="02020603050405020304" pitchFamily="18" charset="0"/>
              <a:ea typeface="Calibri" pitchFamily="34" charset="-122"/>
              <a:cs typeface="Times New Roman" panose="02020603050405020304" pitchFamily="18" charset="0"/>
            </a:endParaRPr>
          </a:p>
          <a:p>
            <a:pPr marL="342900" indent="-342900">
              <a:lnSpc>
                <a:spcPts val="2000"/>
              </a:lnSpc>
              <a:spcAft>
                <a:spcPts val="1400"/>
              </a:spcAft>
              <a:buSzPct val="100000"/>
              <a:buChar char="●"/>
            </a:pPr>
            <a:r>
              <a:rPr lang="en-US" sz="1450" dirty="0">
                <a:solidFill>
                  <a:srgbClr val="222436"/>
                </a:solidFill>
                <a:latin typeface="Times New Roman" panose="02020603050405020304" pitchFamily="18" charset="0"/>
                <a:ea typeface="Calibri" pitchFamily="34" charset="-122"/>
                <a:cs typeface="Times New Roman" panose="02020603050405020304" pitchFamily="18" charset="0"/>
              </a:rPr>
              <a:t>Optimized ResNet50 with a two-layer dense head, staged fine-tuning, and validation-only threshold calibration.</a:t>
            </a:r>
            <a:endParaRPr lang="en-US" sz="1450" dirty="0">
              <a:latin typeface="Times New Roman" panose="02020603050405020304" pitchFamily="18" charset="0"/>
              <a:cs typeface="Times New Roman" panose="02020603050405020304" pitchFamily="18" charset="0"/>
            </a:endParaRPr>
          </a:p>
          <a:p>
            <a:pPr marL="342900" indent="-342900">
              <a:lnSpc>
                <a:spcPts val="2000"/>
              </a:lnSpc>
              <a:spcAft>
                <a:spcPts val="1400"/>
              </a:spcAft>
              <a:buSzPct val="100000"/>
              <a:buChar char="●"/>
            </a:pPr>
            <a:r>
              <a:rPr lang="en-US" sz="1450" dirty="0">
                <a:solidFill>
                  <a:srgbClr val="222436"/>
                </a:solidFill>
                <a:latin typeface="Times New Roman" panose="02020603050405020304" pitchFamily="18" charset="0"/>
                <a:ea typeface="Calibri" pitchFamily="34" charset="-122"/>
                <a:cs typeface="Times New Roman" panose="02020603050405020304" pitchFamily="18" charset="0"/>
              </a:rPr>
              <a:t>Direct ablation of BCE vs. label-smoothed BCE vs. 5-view TTA — showing extra regularization is not automatically beneficial.</a:t>
            </a:r>
            <a:endParaRPr lang="en-US" sz="1450" dirty="0">
              <a:latin typeface="Times New Roman" panose="02020603050405020304" pitchFamily="18" charset="0"/>
              <a:cs typeface="Times New Roman" panose="02020603050405020304" pitchFamily="18" charset="0"/>
            </a:endParaRPr>
          </a:p>
          <a:p>
            <a:pPr marL="342900" indent="-342900">
              <a:lnSpc>
                <a:spcPts val="2000"/>
              </a:lnSpc>
              <a:spcAft>
                <a:spcPts val="1400"/>
              </a:spcAft>
              <a:buSzPct val="100000"/>
              <a:buChar char="●"/>
            </a:pPr>
            <a:r>
              <a:rPr lang="en-US" sz="1450" dirty="0">
                <a:solidFill>
                  <a:srgbClr val="222436"/>
                </a:solidFill>
                <a:latin typeface="Times New Roman" panose="02020603050405020304" pitchFamily="18" charset="0"/>
                <a:ea typeface="Calibri" pitchFamily="34" charset="-122"/>
                <a:cs typeface="Times New Roman" panose="02020603050405020304" pitchFamily="18" charset="0"/>
              </a:rPr>
              <a:t>Full evaluation (accuracy, precision, sensitivity, specificity, F1, ROC-AUC, confusion matrices) plus qualitative Grad-CAM analysis.</a:t>
            </a:r>
            <a:endParaRPr lang="en-US" sz="1450" dirty="0">
              <a:latin typeface="Times New Roman" panose="02020603050405020304" pitchFamily="18" charset="0"/>
              <a:cs typeface="Times New Roman" panose="02020603050405020304" pitchFamily="18" charset="0"/>
            </a:endParaRPr>
          </a:p>
        </p:txBody>
      </p:sp>
      <p:sp>
        <p:nvSpPr>
          <p:cNvPr id="5" name="Shape 3"/>
          <p:cNvSpPr/>
          <p:nvPr/>
        </p:nvSpPr>
        <p:spPr>
          <a:xfrm>
            <a:off x="7551420" y="1316736"/>
            <a:ext cx="4282440" cy="3886200"/>
          </a:xfrm>
          <a:prstGeom prst="roundRect">
            <a:avLst>
              <a:gd name="adj" fmla="val 2128"/>
            </a:avLst>
          </a:prstGeom>
          <a:solidFill>
            <a:srgbClr val="1E2761"/>
          </a:solidFill>
          <a:ln/>
        </p:spPr>
      </p:sp>
      <p:sp>
        <p:nvSpPr>
          <p:cNvPr id="6" name="Text 4"/>
          <p:cNvSpPr/>
          <p:nvPr/>
        </p:nvSpPr>
        <p:spPr>
          <a:xfrm>
            <a:off x="7863840" y="1618488"/>
            <a:ext cx="3657600" cy="320040"/>
          </a:xfrm>
          <a:prstGeom prst="rect">
            <a:avLst/>
          </a:prstGeom>
          <a:noFill/>
          <a:ln/>
        </p:spPr>
        <p:txBody>
          <a:bodyPr wrap="square" rtlCol="0" anchor="ctr"/>
          <a:lstStyle/>
          <a:p>
            <a:pPr marL="0" indent="0">
              <a:buNone/>
            </a:pPr>
            <a:r>
              <a:rPr lang="en-US" sz="1200" b="1" kern="0" spc="150" dirty="0">
                <a:solidFill>
                  <a:srgbClr val="CADCFC"/>
                </a:solidFill>
                <a:latin typeface="Times New Roman" panose="02020603050405020304" pitchFamily="18" charset="0"/>
                <a:ea typeface="Calibri" pitchFamily="34" charset="-122"/>
                <a:cs typeface="Times New Roman" panose="02020603050405020304" pitchFamily="18" charset="0"/>
              </a:rPr>
              <a:t>FINAL RESULT</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7863840" y="1938528"/>
            <a:ext cx="3657600" cy="457200"/>
          </a:xfrm>
          <a:prstGeom prst="rect">
            <a:avLst/>
          </a:prstGeom>
          <a:noFill/>
          <a:ln/>
        </p:spPr>
        <p:txBody>
          <a:bodyPr wrap="square" rtlCol="0" anchor="ctr"/>
          <a:lstStyle/>
          <a:p>
            <a:pPr marL="0" indent="0">
              <a:buNone/>
            </a:pPr>
            <a:r>
              <a:rPr lang="en-US" sz="2000" b="1" dirty="0">
                <a:solidFill>
                  <a:srgbClr val="FFFFFF"/>
                </a:solidFill>
                <a:latin typeface="Times New Roman" panose="02020603050405020304" pitchFamily="18" charset="0"/>
                <a:ea typeface="Cambria" pitchFamily="34" charset="-122"/>
                <a:cs typeface="Times New Roman" panose="02020603050405020304" pitchFamily="18" charset="0"/>
              </a:rPr>
              <a:t>Fine-tuned ResNet50</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7863840" y="2487168"/>
            <a:ext cx="18288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Cambria" pitchFamily="34" charset="-122"/>
                <a:cs typeface="Times New Roman" panose="02020603050405020304" pitchFamily="18" charset="0"/>
              </a:rPr>
              <a:t>90.91%</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9692640" y="2487168"/>
            <a:ext cx="1965960" cy="502920"/>
          </a:xfrm>
          <a:prstGeom prst="rect">
            <a:avLst/>
          </a:prstGeom>
          <a:noFill/>
          <a:ln/>
        </p:spPr>
        <p:txBody>
          <a:bodyPr wrap="square"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Accuracy</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7863840" y="3108960"/>
            <a:ext cx="18288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Cambria" pitchFamily="34" charset="-122"/>
                <a:cs typeface="Times New Roman" panose="02020603050405020304" pitchFamily="18" charset="0"/>
              </a:rPr>
              <a:t>92.33%</a:t>
            </a:r>
            <a:endParaRPr lang="en-US" sz="2400" dirty="0">
              <a:latin typeface="Times New Roman" panose="02020603050405020304" pitchFamily="18" charset="0"/>
              <a:cs typeface="Times New Roman" panose="02020603050405020304" pitchFamily="18" charset="0"/>
            </a:endParaRPr>
          </a:p>
        </p:txBody>
      </p:sp>
      <p:sp>
        <p:nvSpPr>
          <p:cNvPr id="11" name="Text 9"/>
          <p:cNvSpPr/>
          <p:nvPr/>
        </p:nvSpPr>
        <p:spPr>
          <a:xfrm>
            <a:off x="9692640" y="3108960"/>
            <a:ext cx="1965960" cy="502920"/>
          </a:xfrm>
          <a:prstGeom prst="rect">
            <a:avLst/>
          </a:prstGeom>
          <a:noFill/>
          <a:ln/>
        </p:spPr>
        <p:txBody>
          <a:bodyPr wrap="square"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Sensitivity</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7863840" y="3730752"/>
            <a:ext cx="18288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Cambria" pitchFamily="34" charset="-122"/>
                <a:cs typeface="Times New Roman" panose="02020603050405020304" pitchFamily="18" charset="0"/>
              </a:rPr>
              <a:t>96.59%</a:t>
            </a:r>
            <a:endParaRPr lang="en-US" sz="2400" dirty="0">
              <a:latin typeface="Times New Roman" panose="02020603050405020304" pitchFamily="18" charset="0"/>
              <a:cs typeface="Times New Roman" panose="02020603050405020304" pitchFamily="18" charset="0"/>
            </a:endParaRPr>
          </a:p>
        </p:txBody>
      </p:sp>
      <p:sp>
        <p:nvSpPr>
          <p:cNvPr id="13" name="Text 11"/>
          <p:cNvSpPr/>
          <p:nvPr/>
        </p:nvSpPr>
        <p:spPr>
          <a:xfrm>
            <a:off x="9692640" y="3730752"/>
            <a:ext cx="1965960" cy="502920"/>
          </a:xfrm>
          <a:prstGeom prst="rect">
            <a:avLst/>
          </a:prstGeom>
          <a:noFill/>
          <a:ln/>
        </p:spPr>
        <p:txBody>
          <a:bodyPr wrap="square" rtlCol="0" anchor="ctr"/>
          <a:lstStyle/>
          <a:p>
            <a:pPr marL="0" indent="0">
              <a:buNone/>
            </a:pP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ROC-AUC</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7863840" y="4352544"/>
            <a:ext cx="1828800" cy="502920"/>
          </a:xfrm>
          <a:prstGeom prst="rect">
            <a:avLst/>
          </a:prstGeom>
          <a:noFill/>
          <a:ln/>
        </p:spPr>
        <p:txBody>
          <a:bodyPr wrap="square" rtlCol="0" anchor="ctr"/>
          <a:lstStyle/>
          <a:p>
            <a:pPr marL="0" indent="0">
              <a:buNone/>
            </a:pPr>
            <a:r>
              <a:rPr lang="en-US" sz="2400" b="1" dirty="0">
                <a:solidFill>
                  <a:srgbClr val="FFFFFF"/>
                </a:solidFill>
                <a:latin typeface="Times New Roman" panose="02020603050405020304" pitchFamily="18" charset="0"/>
                <a:ea typeface="Cambria" pitchFamily="34" charset="-122"/>
                <a:cs typeface="Times New Roman" panose="02020603050405020304" pitchFamily="18" charset="0"/>
              </a:rPr>
              <a:t>+2.90 pp</a:t>
            </a:r>
            <a:endParaRPr lang="en-US" sz="2400" dirty="0">
              <a:latin typeface="Times New Roman" panose="02020603050405020304" pitchFamily="18" charset="0"/>
              <a:cs typeface="Times New Roman" panose="02020603050405020304" pitchFamily="18" charset="0"/>
            </a:endParaRPr>
          </a:p>
        </p:txBody>
      </p:sp>
      <p:sp>
        <p:nvSpPr>
          <p:cNvPr id="15" name="Text 13"/>
          <p:cNvSpPr/>
          <p:nvPr/>
        </p:nvSpPr>
        <p:spPr>
          <a:xfrm>
            <a:off x="9692640" y="4352544"/>
            <a:ext cx="1965960" cy="502920"/>
          </a:xfrm>
          <a:prstGeom prst="rect">
            <a:avLst/>
          </a:prstGeom>
          <a:noFill/>
          <a:ln/>
        </p:spPr>
        <p:txBody>
          <a:bodyPr wrap="square" rtlCol="0" anchor="ctr"/>
          <a:lstStyle/>
          <a:p>
            <a:r>
              <a:rPr lang="en-US" sz="1200" dirty="0">
                <a:solidFill>
                  <a:schemeClr val="bg2"/>
                </a:solidFill>
                <a:latin typeface="Times New Roman" panose="02020603050405020304" pitchFamily="18" charset="0"/>
                <a:cs typeface="Times New Roman" panose="02020603050405020304" pitchFamily="18" charset="0"/>
              </a:rPr>
              <a:t>Accuracy gain over the best published benchmark</a:t>
            </a:r>
          </a:p>
        </p:txBody>
      </p:sp>
      <p:sp>
        <p:nvSpPr>
          <p:cNvPr id="17" name="Text 15"/>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19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418320" y="-2103120"/>
            <a:ext cx="5943600" cy="5943600"/>
          </a:xfrm>
          <a:prstGeom prst="ellipse">
            <a:avLst/>
          </a:prstGeom>
          <a:solidFill>
            <a:srgbClr val="EEF3FC"/>
          </a:solidFill>
          <a:ln/>
        </p:spPr>
      </p:sp>
      <p:sp>
        <p:nvSpPr>
          <p:cNvPr id="3" name="Shape 1"/>
          <p:cNvSpPr/>
          <p:nvPr/>
        </p:nvSpPr>
        <p:spPr>
          <a:xfrm>
            <a:off x="-2194560" y="4572000"/>
            <a:ext cx="4572000" cy="4572000"/>
          </a:xfrm>
          <a:prstGeom prst="ellipse">
            <a:avLst/>
          </a:prstGeom>
          <a:solidFill>
            <a:srgbClr val="EEF3FC"/>
          </a:solidFill>
          <a:ln/>
        </p:spPr>
      </p:sp>
      <p:sp>
        <p:nvSpPr>
          <p:cNvPr id="4" name="Text 2"/>
          <p:cNvSpPr/>
          <p:nvPr/>
        </p:nvSpPr>
        <p:spPr>
          <a:xfrm>
            <a:off x="731520" y="2377440"/>
            <a:ext cx="9144000" cy="914400"/>
          </a:xfrm>
          <a:prstGeom prst="rect">
            <a:avLst/>
          </a:prstGeom>
          <a:noFill/>
          <a:ln/>
        </p:spPr>
        <p:txBody>
          <a:bodyPr wrap="square" rtlCol="0" anchor="ctr"/>
          <a:lstStyle/>
          <a:p>
            <a:pPr marL="0" indent="0">
              <a:buNone/>
            </a:pPr>
            <a:r>
              <a:rPr lang="en-US" sz="4600" b="1" dirty="0">
                <a:solidFill>
                  <a:srgbClr val="1E2761"/>
                </a:solidFill>
                <a:latin typeface="Times New Roman" panose="02020603050405020304" pitchFamily="18" charset="0"/>
                <a:ea typeface="Cambria" pitchFamily="34" charset="-122"/>
                <a:cs typeface="Times New Roman" panose="02020603050405020304" pitchFamily="18" charset="0"/>
              </a:rPr>
              <a:t>Thank You</a:t>
            </a:r>
            <a:endParaRPr lang="en-US" sz="4600" dirty="0">
              <a:latin typeface="Times New Roman" panose="02020603050405020304" pitchFamily="18" charset="0"/>
              <a:cs typeface="Times New Roman" panose="02020603050405020304" pitchFamily="18" charset="0"/>
            </a:endParaRPr>
          </a:p>
        </p:txBody>
      </p:sp>
      <p:sp>
        <p:nvSpPr>
          <p:cNvPr id="6" name="Shape 4"/>
          <p:cNvSpPr/>
          <p:nvPr/>
        </p:nvSpPr>
        <p:spPr>
          <a:xfrm>
            <a:off x="635000" y="3281680"/>
            <a:ext cx="4114800" cy="0"/>
          </a:xfrm>
          <a:prstGeom prst="line">
            <a:avLst/>
          </a:prstGeom>
          <a:noFill/>
          <a:ln w="25400">
            <a:solidFill>
              <a:srgbClr val="CADCFC"/>
            </a:solidFill>
            <a:prstDash val="solid"/>
          </a:ln>
        </p:spPr>
      </p:sp>
      <p:sp>
        <p:nvSpPr>
          <p:cNvPr id="7" name="Text 5"/>
          <p:cNvSpPr/>
          <p:nvPr/>
        </p:nvSpPr>
        <p:spPr>
          <a:xfrm>
            <a:off x="635000" y="3510280"/>
            <a:ext cx="7315200" cy="320040"/>
          </a:xfrm>
          <a:prstGeom prst="rect">
            <a:avLst/>
          </a:prstGeom>
          <a:noFill/>
          <a:ln/>
        </p:spPr>
        <p:txBody>
          <a:bodyPr wrap="square" rtlCol="0" anchor="ctr"/>
          <a:lstStyle/>
          <a:p>
            <a:pPr marL="0" indent="0">
              <a:buNone/>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Belal Hossain  •  itsmebelalhossain@gmail.com</a:t>
            </a:r>
            <a:endParaRPr lang="en-US" sz="1300" dirty="0">
              <a:latin typeface="Times New Roman" panose="02020603050405020304" pitchFamily="18" charset="0"/>
              <a:cs typeface="Times New Roman" panose="02020603050405020304" pitchFamily="18" charset="0"/>
            </a:endParaRPr>
          </a:p>
        </p:txBody>
      </p:sp>
      <p:sp>
        <p:nvSpPr>
          <p:cNvPr id="8" name="Text 6"/>
          <p:cNvSpPr/>
          <p:nvPr/>
        </p:nvSpPr>
        <p:spPr>
          <a:xfrm>
            <a:off x="635000" y="3830320"/>
            <a:ext cx="7315200" cy="320040"/>
          </a:xfrm>
          <a:prstGeom prst="rect">
            <a:avLst/>
          </a:prstGeom>
          <a:noFill/>
          <a:ln/>
        </p:spPr>
        <p:txBody>
          <a:bodyPr wrap="square" rtlCol="0" anchor="ctr"/>
          <a:lstStyle/>
          <a:p>
            <a:pPr marL="0" indent="0">
              <a:buNone/>
            </a:pPr>
            <a:r>
              <a:rPr lang="en-US" sz="1300" dirty="0">
                <a:solidFill>
                  <a:srgbClr val="222436"/>
                </a:solidFill>
                <a:latin typeface="Times New Roman" panose="02020603050405020304" pitchFamily="18" charset="0"/>
                <a:ea typeface="Calibri" pitchFamily="34" charset="-122"/>
                <a:cs typeface="Times New Roman" panose="02020603050405020304" pitchFamily="18" charset="0"/>
              </a:rPr>
              <a:t>Nusrat Jahan  •  nusrat.tithy2003@gmail.com</a:t>
            </a:r>
            <a:endParaRPr lang="en-US" sz="1300" dirty="0">
              <a:latin typeface="Times New Roman" panose="02020603050405020304" pitchFamily="18" charset="0"/>
              <a:cs typeface="Times New Roman" panose="02020603050405020304" pitchFamily="18" charset="0"/>
            </a:endParaRPr>
          </a:p>
        </p:txBody>
      </p:sp>
      <p:sp>
        <p:nvSpPr>
          <p:cNvPr id="9" name="Text 7"/>
          <p:cNvSpPr/>
          <p:nvPr/>
        </p:nvSpPr>
        <p:spPr>
          <a:xfrm>
            <a:off x="635000" y="4196080"/>
            <a:ext cx="8229600" cy="320040"/>
          </a:xfrm>
          <a:prstGeom prst="rect">
            <a:avLst/>
          </a:prstGeom>
          <a:noFill/>
          <a:ln/>
        </p:spPr>
        <p:txBody>
          <a:bodyPr wrap="square" rtlCol="0" anchor="ctr"/>
          <a:lstStyle/>
          <a:p>
            <a:pPr marL="0" indent="0">
              <a:buNone/>
            </a:pPr>
            <a:r>
              <a:rPr lang="en-US" sz="1200" dirty="0">
                <a:solidFill>
                  <a:srgbClr val="6B6E85"/>
                </a:solidFill>
                <a:latin typeface="Times New Roman" panose="02020603050405020304" pitchFamily="18" charset="0"/>
                <a:ea typeface="Calibri" pitchFamily="34" charset="-122"/>
                <a:cs typeface="Times New Roman" panose="02020603050405020304" pitchFamily="18" charset="0"/>
              </a:rPr>
              <a:t>Department of Computer Science, East West University, Dhaka, Bangladesh</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11000232" y="6547104"/>
            <a:ext cx="731520" cy="256032"/>
          </a:xfrm>
          <a:prstGeom prst="rect">
            <a:avLst/>
          </a:prstGeom>
          <a:noFill/>
          <a:ln/>
        </p:spPr>
        <p:txBody>
          <a:bodyPr wrap="square" rtlCol="0" anchor="ctr"/>
          <a:lstStyle/>
          <a:p>
            <a:pPr marL="0" indent="0" algn="r">
              <a:buNone/>
            </a:pPr>
            <a:r>
              <a:rPr lang="en-US" sz="900" dirty="0">
                <a:solidFill>
                  <a:srgbClr val="6B6E85"/>
                </a:solidFill>
                <a:latin typeface="Times New Roman" panose="02020603050405020304" pitchFamily="18" charset="0"/>
                <a:ea typeface="Calibri" pitchFamily="34" charset="-122"/>
                <a:cs typeface="Times New Roman" panose="02020603050405020304" pitchFamily="18" charset="0"/>
              </a:rPr>
              <a:t>20 / 20</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1881</Words>
  <Application>Microsoft Office PowerPoint</Application>
  <PresentationFormat>Widescreen</PresentationFormat>
  <Paragraphs>420</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LORD ICHIGO</cp:lastModifiedBy>
  <cp:revision>5</cp:revision>
  <dcterms:created xsi:type="dcterms:W3CDTF">2026-08-18T22:50:36Z</dcterms:created>
  <dcterms:modified xsi:type="dcterms:W3CDTF">2026-08-19T06:52:00Z</dcterms:modified>
</cp:coreProperties>
</file>